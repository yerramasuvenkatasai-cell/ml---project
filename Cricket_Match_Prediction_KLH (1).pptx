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82C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82C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82C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82C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377" y="319024"/>
            <a:ext cx="2435225" cy="335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82C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4709" y="1365250"/>
            <a:ext cx="4112259" cy="243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33349"/>
              <a:ext cx="9010650" cy="4438650"/>
            </a:xfrm>
            <a:custGeom>
              <a:avLst/>
              <a:gdLst/>
              <a:ahLst/>
              <a:cxnLst/>
              <a:rect l="l" t="t" r="r" b="b"/>
              <a:pathLst>
                <a:path w="9010650" h="4438650">
                  <a:moveTo>
                    <a:pt x="3429000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3429000" y="1285875"/>
                  </a:lnTo>
                  <a:lnTo>
                    <a:pt x="3429000" y="0"/>
                  </a:lnTo>
                  <a:close/>
                </a:path>
                <a:path w="9010650" h="4438650">
                  <a:moveTo>
                    <a:pt x="9010650" y="3619500"/>
                  </a:moveTo>
                  <a:lnTo>
                    <a:pt x="5257800" y="3619500"/>
                  </a:lnTo>
                  <a:lnTo>
                    <a:pt x="5257800" y="4438650"/>
                  </a:lnTo>
                  <a:lnTo>
                    <a:pt x="9010650" y="4438650"/>
                  </a:lnTo>
                  <a:lnTo>
                    <a:pt x="9010650" y="361950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/home/claude/klhdeck/logo_transparent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238125"/>
              <a:ext cx="3200400" cy="11144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0" y="1552575"/>
            <a:ext cx="8782050" cy="962025"/>
          </a:xfrm>
          <a:prstGeom prst="rect"/>
          <a:solidFill>
            <a:srgbClr val="DBEAFD"/>
          </a:solidFill>
        </p:spPr>
        <p:txBody>
          <a:bodyPr wrap="square" lIns="0" tIns="76200" rIns="0" bIns="0" rtlCol="0" vert="horz">
            <a:spAutoFit/>
          </a:bodyPr>
          <a:lstStyle/>
          <a:p>
            <a:pPr marL="503555" marR="2663190">
              <a:lnSpc>
                <a:spcPct val="101699"/>
              </a:lnSpc>
              <a:spcBef>
                <a:spcPts val="600"/>
              </a:spcBef>
            </a:pPr>
            <a:r>
              <a:rPr dirty="0" sz="2400" spc="-10" b="1">
                <a:latin typeface="Times New Roman"/>
                <a:cs typeface="Times New Roman"/>
              </a:rPr>
              <a:t>Multi-</a:t>
            </a:r>
            <a:r>
              <a:rPr dirty="0" sz="2400" b="1">
                <a:latin typeface="Times New Roman"/>
                <a:cs typeface="Times New Roman"/>
              </a:rPr>
              <a:t>Class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Match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Result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Prediction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Using </a:t>
            </a:r>
            <a:r>
              <a:rPr dirty="0" sz="2400" b="1">
                <a:latin typeface="Times New Roman"/>
                <a:cs typeface="Times New Roman"/>
              </a:rPr>
              <a:t>Multinomial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Logistic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Regression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675" y="3898582"/>
            <a:ext cx="1112520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75">
                <a:solidFill>
                  <a:srgbClr val="182C4A"/>
                </a:solidFill>
                <a:latin typeface="Cambria"/>
                <a:cs typeface="Cambria"/>
              </a:rPr>
              <a:t>Y.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Venkata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Sai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D.</a:t>
            </a:r>
            <a:r>
              <a:rPr dirty="0" sz="1500" spc="-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Tejas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4259" y="3898582"/>
            <a:ext cx="1061085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2520030278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2520030407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" name="object 11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 spc="-10">
                <a:latin typeface="Georgia"/>
                <a:cs typeface="Georgia"/>
              </a:rPr>
              <a:t>Introduction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97" y="1077277"/>
            <a:ext cx="8210550" cy="236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14984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Predicting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outcome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of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is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valuable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for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fans,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analysts,</a:t>
            </a:r>
            <a:r>
              <a:rPr dirty="0" sz="1500" spc="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coaches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sports organizations.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5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results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depend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on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many</a:t>
            </a:r>
            <a:r>
              <a:rPr dirty="0" sz="1500" spc="-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factors: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team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performance,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venue,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recent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form.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5600" algn="l"/>
              </a:tabLst>
            </a:pP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Traditional</a:t>
            </a:r>
            <a:r>
              <a:rPr dirty="0" sz="1500" spc="-7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predictions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rely</a:t>
            </a:r>
            <a:r>
              <a:rPr dirty="0" sz="1500" spc="-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heavily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on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expert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opinion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7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simple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historical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statistics.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These</a:t>
            </a:r>
            <a:r>
              <a:rPr dirty="0" sz="1500" spc="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approaches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may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not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capture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complex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patterns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across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team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form, venue</a:t>
            </a:r>
            <a:r>
              <a:rPr dirty="0" sz="1500" spc="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outcome.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Our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project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uses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Machine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Learning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analyze</a:t>
            </a:r>
            <a:r>
              <a:rPr dirty="0" sz="1500" spc="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data</a:t>
            </a:r>
            <a:r>
              <a:rPr dirty="0" sz="1500" spc="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predict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likely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result.</a:t>
            </a:r>
            <a:endParaRPr sz="1500">
              <a:latin typeface="Cambria"/>
              <a:cs typeface="Cambria"/>
            </a:endParaRPr>
          </a:p>
          <a:p>
            <a:pPr marL="355600" marR="172085" indent="-343535">
              <a:lnSpc>
                <a:spcPts val="1730"/>
              </a:lnSpc>
              <a:spcBef>
                <a:spcPts val="944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proposed</a:t>
            </a:r>
            <a:r>
              <a:rPr dirty="0" sz="1500" spc="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model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Multinomial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Logistic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Regression,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which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supports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multi-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class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outcomes: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Win,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Loss,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or</a:t>
            </a:r>
            <a:r>
              <a:rPr dirty="0" sz="1500" spc="-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No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Result.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" name="object 6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Problem</a:t>
            </a:r>
            <a:r>
              <a:rPr dirty="0" sz="3200" spc="-100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statement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97" y="1077277"/>
            <a:ext cx="829500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Analysts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fans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have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difficulty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predicting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outcomes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using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traditional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 approaches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such 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as: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734" y="1459293"/>
            <a:ext cx="2504440" cy="86550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Expert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opinion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Manual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statistical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analysis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Simple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historical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averages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097" y="2588577"/>
            <a:ext cx="8248650" cy="1926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433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These</a:t>
            </a:r>
            <a:r>
              <a:rPr dirty="0" sz="1500" spc="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approaches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may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not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capture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complex,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multi-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factor</a:t>
            </a:r>
            <a:r>
              <a:rPr dirty="0" sz="1500" spc="-7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patterns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early</a:t>
            </a:r>
            <a:r>
              <a:rPr dirty="0" sz="1500" spc="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enough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give</a:t>
            </a:r>
            <a:r>
              <a:rPr dirty="0" sz="1500" spc="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reliable, data-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driven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prediction.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Main</a:t>
            </a:r>
            <a:r>
              <a:rPr dirty="0" sz="1500" spc="-6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182C4A"/>
                </a:solidFill>
                <a:latin typeface="Cambria"/>
                <a:cs typeface="Cambria"/>
              </a:rPr>
              <a:t>Goal: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500" spc="-8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develop</a:t>
            </a:r>
            <a:r>
              <a:rPr dirty="0" sz="1500" spc="-7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Machine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Learning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system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that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analyzes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data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endParaRPr sz="1500">
              <a:latin typeface="Cambria"/>
              <a:cs typeface="Cambria"/>
            </a:endParaRPr>
          </a:p>
          <a:p>
            <a:pPr marL="12700" marR="1079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—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Win,</a:t>
            </a:r>
            <a:r>
              <a:rPr dirty="0" sz="1500" spc="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Loss,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or</a:t>
            </a:r>
            <a:r>
              <a:rPr dirty="0" sz="1500" spc="-8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No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—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giving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fans,</a:t>
            </a:r>
            <a:r>
              <a:rPr dirty="0" sz="1500" spc="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analysts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organizations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reliable,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data-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driven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prediction tool.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" name="object 8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 spc="-10">
                <a:latin typeface="Georgia"/>
                <a:cs typeface="Georgia"/>
              </a:rPr>
              <a:t>Objectives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97" y="1155255"/>
            <a:ext cx="8239125" cy="234442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Collect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relevant</a:t>
            </a:r>
            <a:r>
              <a:rPr dirty="0" sz="1500" spc="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data</a:t>
            </a:r>
            <a:r>
              <a:rPr dirty="0" sz="1500" spc="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for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outcome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prediction.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Understand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analyze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dataset.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Clean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preprocess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collected</a:t>
            </a:r>
            <a:r>
              <a:rPr dirty="0" sz="1500" spc="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data.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Perform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Exploratory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Data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Analysis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(EDA)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identify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patterns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related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results.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Develop</a:t>
            </a:r>
            <a:r>
              <a:rPr dirty="0" sz="150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Multinomial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Logistic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Regression</a:t>
            </a:r>
            <a:r>
              <a:rPr dirty="0" sz="1500" spc="-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model.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Evaluate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model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using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appropriate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performance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metrics.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Provide</a:t>
            </a:r>
            <a:r>
              <a:rPr dirty="0" sz="1500" spc="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system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that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predicts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outcome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(Win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/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Loss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/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No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Result)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outcome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probability.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" name="object 6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Dataset</a:t>
            </a:r>
            <a:r>
              <a:rPr dirty="0" sz="3200" spc="-100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Overview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97" y="1031557"/>
            <a:ext cx="8168640" cy="217614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Dataset</a:t>
            </a:r>
            <a:r>
              <a:rPr dirty="0" sz="1500" spc="-7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Used:</a:t>
            </a:r>
            <a:r>
              <a:rPr dirty="0" sz="1500" spc="-2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-4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Dataset</a:t>
            </a:r>
            <a:r>
              <a:rPr dirty="0" sz="1500" spc="-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182C4A"/>
                </a:solidFill>
                <a:latin typeface="Cambria"/>
                <a:cs typeface="Cambria"/>
              </a:rPr>
              <a:t>(Cricket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 Data</a:t>
            </a:r>
            <a:r>
              <a:rPr dirty="0" sz="1500" spc="-3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API</a:t>
            </a:r>
            <a:r>
              <a:rPr dirty="0" sz="1500" spc="2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/</a:t>
            </a:r>
            <a:r>
              <a:rPr dirty="0" sz="1500" spc="-6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182C4A"/>
                </a:solidFill>
                <a:latin typeface="Cambria"/>
                <a:cs typeface="Cambria"/>
              </a:rPr>
              <a:t>Sports</a:t>
            </a:r>
            <a:r>
              <a:rPr dirty="0" sz="1500" spc="1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182C4A"/>
                </a:solidFill>
                <a:latin typeface="Cambria"/>
                <a:cs typeface="Cambria"/>
              </a:rPr>
              <a:t>API)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dataset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contains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information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collected</a:t>
            </a:r>
            <a:r>
              <a:rPr dirty="0" sz="1500" spc="-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through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Cricket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Data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API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/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Sports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API.</a:t>
            </a:r>
            <a:endParaRPr sz="1500">
              <a:latin typeface="Cambria"/>
              <a:cs typeface="Cambria"/>
            </a:endParaRPr>
          </a:p>
          <a:p>
            <a:pPr marL="355600" marR="5080" indent="-343535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It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includes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details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about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team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performance,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runs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scored,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wickets,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venue,</a:t>
            </a:r>
            <a:r>
              <a:rPr dirty="0" sz="150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result,</a:t>
            </a:r>
            <a:r>
              <a:rPr dirty="0" sz="1500" spc="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recent</a:t>
            </a:r>
            <a:r>
              <a:rPr dirty="0" sz="150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form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player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statistics.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Our</a:t>
            </a:r>
            <a:r>
              <a:rPr dirty="0" sz="1500" spc="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target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variable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is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500" spc="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Result,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which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tells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us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outcome</a:t>
            </a:r>
            <a:r>
              <a:rPr dirty="0" sz="150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of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match.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25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target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has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three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classes: Win,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Loss,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50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No</a:t>
            </a:r>
            <a:r>
              <a:rPr dirty="0" sz="150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Result.</a:t>
            </a:r>
            <a:endParaRPr sz="15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This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is</a:t>
            </a:r>
            <a:r>
              <a:rPr dirty="0" sz="15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a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Supervised Learning</a:t>
            </a:r>
            <a:r>
              <a:rPr dirty="0" sz="150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→</a:t>
            </a:r>
            <a:r>
              <a:rPr dirty="0" sz="150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182C4A"/>
                </a:solidFill>
                <a:latin typeface="Cambria"/>
                <a:cs typeface="Cambria"/>
              </a:rPr>
              <a:t>Multi-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Class</a:t>
            </a:r>
            <a:r>
              <a:rPr dirty="0" sz="150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182C4A"/>
                </a:solidFill>
                <a:latin typeface="Cambria"/>
                <a:cs typeface="Cambria"/>
              </a:rPr>
              <a:t>Classification</a:t>
            </a:r>
            <a:r>
              <a:rPr dirty="0" sz="1500" spc="-10">
                <a:solidFill>
                  <a:srgbClr val="182C4A"/>
                </a:solidFill>
                <a:latin typeface="Cambria"/>
                <a:cs typeface="Cambria"/>
              </a:rPr>
              <a:t> problem.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" name="object 6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Step</a:t>
            </a:r>
            <a:r>
              <a:rPr dirty="0" sz="3200" spc="-3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1</a:t>
            </a:r>
            <a:r>
              <a:rPr dirty="0" sz="3200" spc="69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Load</a:t>
            </a:r>
            <a:r>
              <a:rPr dirty="0" sz="3200" spc="-4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Dataset</a:t>
            </a:r>
            <a:r>
              <a:rPr dirty="0" sz="3200" spc="670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Import</a:t>
            </a:r>
            <a:r>
              <a:rPr dirty="0" sz="3200" spc="-50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Libraries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50" y="1371600"/>
            <a:ext cx="4114800" cy="1504950"/>
          </a:xfrm>
          <a:custGeom>
            <a:avLst/>
            <a:gdLst/>
            <a:ahLst/>
            <a:cxnLst/>
            <a:rect l="l" t="t" r="r" b="b"/>
            <a:pathLst>
              <a:path w="4114800" h="1504950">
                <a:moveTo>
                  <a:pt x="4060063" y="0"/>
                </a:moveTo>
                <a:lnTo>
                  <a:pt x="54724" y="0"/>
                </a:lnTo>
                <a:lnTo>
                  <a:pt x="33422" y="4302"/>
                </a:lnTo>
                <a:lnTo>
                  <a:pt x="16027" y="16033"/>
                </a:lnTo>
                <a:lnTo>
                  <a:pt x="4300" y="33432"/>
                </a:lnTo>
                <a:lnTo>
                  <a:pt x="0" y="54737"/>
                </a:lnTo>
                <a:lnTo>
                  <a:pt x="0" y="1450213"/>
                </a:lnTo>
                <a:lnTo>
                  <a:pt x="4300" y="1471517"/>
                </a:lnTo>
                <a:lnTo>
                  <a:pt x="16027" y="1488916"/>
                </a:lnTo>
                <a:lnTo>
                  <a:pt x="33422" y="1500647"/>
                </a:lnTo>
                <a:lnTo>
                  <a:pt x="54724" y="1504950"/>
                </a:lnTo>
                <a:lnTo>
                  <a:pt x="4060063" y="1504950"/>
                </a:lnTo>
                <a:lnTo>
                  <a:pt x="4081367" y="1500647"/>
                </a:lnTo>
                <a:lnTo>
                  <a:pt x="4098766" y="1488916"/>
                </a:lnTo>
                <a:lnTo>
                  <a:pt x="4110497" y="1471517"/>
                </a:lnTo>
                <a:lnTo>
                  <a:pt x="4114800" y="1450213"/>
                </a:lnTo>
                <a:lnTo>
                  <a:pt x="4114800" y="54737"/>
                </a:lnTo>
                <a:lnTo>
                  <a:pt x="4110497" y="33432"/>
                </a:lnTo>
                <a:lnTo>
                  <a:pt x="4098766" y="16033"/>
                </a:lnTo>
                <a:lnTo>
                  <a:pt x="4081367" y="4302"/>
                </a:lnTo>
                <a:lnTo>
                  <a:pt x="4060063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0855" y="1415732"/>
            <a:ext cx="2617470" cy="1237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61085">
              <a:lnSpc>
                <a:spcPct val="119500"/>
              </a:lnSpc>
              <a:spcBef>
                <a:spcPts val="95"/>
              </a:spcBef>
            </a:pP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import</a:t>
            </a:r>
            <a:r>
              <a:rPr dirty="0" sz="1100" spc="1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pandas</a:t>
            </a:r>
            <a:r>
              <a:rPr dirty="0" sz="1100" spc="1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as</a:t>
            </a:r>
            <a:r>
              <a:rPr dirty="0" sz="1100" spc="19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25">
                <a:solidFill>
                  <a:srgbClr val="182C4A"/>
                </a:solidFill>
                <a:latin typeface="Consolas"/>
                <a:cs typeface="Consolas"/>
              </a:rPr>
              <a:t>pd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import</a:t>
            </a:r>
            <a:r>
              <a:rPr dirty="0" sz="1100" spc="16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numpy</a:t>
            </a:r>
            <a:r>
              <a:rPr dirty="0" sz="1100" spc="16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as</a:t>
            </a:r>
            <a:r>
              <a:rPr dirty="0" sz="1100" spc="16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25">
                <a:solidFill>
                  <a:srgbClr val="182C4A"/>
                </a:solidFill>
                <a:latin typeface="Consolas"/>
                <a:cs typeface="Consolas"/>
              </a:rPr>
              <a:t>np</a:t>
            </a:r>
            <a:endParaRPr sz="1100">
              <a:latin typeface="Consolas"/>
              <a:cs typeface="Consolas"/>
            </a:endParaRPr>
          </a:p>
          <a:p>
            <a:pPr marL="12700" marR="90170">
              <a:lnSpc>
                <a:spcPct val="119500"/>
              </a:lnSpc>
            </a:pP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import</a:t>
            </a:r>
            <a:r>
              <a:rPr dirty="0" sz="1100" spc="2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matplotlib.pyplot</a:t>
            </a:r>
            <a:r>
              <a:rPr dirty="0" sz="1100" spc="2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as</a:t>
            </a:r>
            <a:r>
              <a:rPr dirty="0" sz="1100" spc="29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25">
                <a:solidFill>
                  <a:srgbClr val="182C4A"/>
                </a:solidFill>
                <a:latin typeface="Consolas"/>
                <a:cs typeface="Consolas"/>
              </a:rPr>
              <a:t>plt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import</a:t>
            </a:r>
            <a:r>
              <a:rPr dirty="0" sz="1100" spc="1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seaborn</a:t>
            </a:r>
            <a:r>
              <a:rPr dirty="0" sz="1100" spc="1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as</a:t>
            </a:r>
            <a:r>
              <a:rPr dirty="0" sz="1100" spc="18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25">
                <a:solidFill>
                  <a:srgbClr val="182C4A"/>
                </a:solidFill>
                <a:latin typeface="Consolas"/>
                <a:cs typeface="Consolas"/>
              </a:rPr>
              <a:t>sns</a:t>
            </a:r>
            <a:endParaRPr sz="11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from</a:t>
            </a:r>
            <a:r>
              <a:rPr dirty="0" sz="1100" spc="39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sklearn.linear_model</a:t>
            </a:r>
            <a:r>
              <a:rPr dirty="0" sz="1100" spc="40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82C4A"/>
                </a:solidFill>
                <a:latin typeface="Consolas"/>
                <a:cs typeface="Consolas"/>
              </a:rPr>
              <a:t>import</a:t>
            </a:r>
            <a:endParaRPr sz="11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100" spc="-10">
                <a:solidFill>
                  <a:srgbClr val="182C4A"/>
                </a:solidFill>
                <a:latin typeface="Consolas"/>
                <a:cs typeface="Consolas"/>
              </a:rPr>
              <a:t>LogisticRegression</a:t>
            </a:r>
            <a:endParaRPr sz="1100">
              <a:latin typeface="Consolas"/>
              <a:cs typeface="Consola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702809" y="1365250"/>
          <a:ext cx="4112259" cy="2436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2651760"/>
              </a:tblGrid>
              <a:tr h="3956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10" b="1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Library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10" b="1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Purpose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Pandas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Load</a:t>
                      </a:r>
                      <a:r>
                        <a:rPr dirty="0" sz="1200" spc="-5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200" spc="1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manipulate</a:t>
                      </a:r>
                      <a:r>
                        <a:rPr dirty="0" sz="1200" spc="2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200" spc="-5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dataset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NumPy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Numerical</a:t>
                      </a:r>
                      <a:r>
                        <a:rPr dirty="0" sz="1200" spc="-3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calculations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Matplotlib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Create</a:t>
                      </a:r>
                      <a:r>
                        <a:rPr dirty="0" sz="1200" spc="-5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graphs</a:t>
                      </a:r>
                      <a:r>
                        <a:rPr dirty="0" sz="1200" spc="-3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200" spc="-6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visualizations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Seaborn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Create</a:t>
                      </a:r>
                      <a:r>
                        <a:rPr dirty="0" sz="1200" spc="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statistical</a:t>
                      </a:r>
                      <a:r>
                        <a:rPr dirty="0" sz="1200" spc="-2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visualizations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Scikit-learn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585470">
                        <a:lnSpc>
                          <a:spcPts val="1430"/>
                        </a:lnSpc>
                        <a:spcBef>
                          <a:spcPts val="465"/>
                        </a:spcBef>
                      </a:pP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Build</a:t>
                      </a:r>
                      <a:r>
                        <a:rPr dirty="0" sz="1200" spc="-4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200" spc="-3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Multinomial</a:t>
                      </a:r>
                      <a:r>
                        <a:rPr dirty="0" sz="1200" spc="-7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Logistic Regression</a:t>
                      </a:r>
                      <a:r>
                        <a:rPr dirty="0" sz="1200" spc="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model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" name="object 8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Loading</a:t>
            </a:r>
            <a:r>
              <a:rPr dirty="0" sz="3200" spc="-80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the</a:t>
            </a:r>
            <a:r>
              <a:rPr dirty="0" sz="3200" spc="-75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Dataset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50" y="1276350"/>
            <a:ext cx="4114800" cy="828675"/>
          </a:xfrm>
          <a:custGeom>
            <a:avLst/>
            <a:gdLst/>
            <a:ahLst/>
            <a:cxnLst/>
            <a:rect l="l" t="t" r="r" b="b"/>
            <a:pathLst>
              <a:path w="4114800" h="828675">
                <a:moveTo>
                  <a:pt x="4059554" y="0"/>
                </a:moveTo>
                <a:lnTo>
                  <a:pt x="55245" y="0"/>
                </a:lnTo>
                <a:lnTo>
                  <a:pt x="33743" y="4345"/>
                </a:lnTo>
                <a:lnTo>
                  <a:pt x="16182" y="16192"/>
                </a:lnTo>
                <a:lnTo>
                  <a:pt x="4342" y="33754"/>
                </a:lnTo>
                <a:lnTo>
                  <a:pt x="0" y="55245"/>
                </a:lnTo>
                <a:lnTo>
                  <a:pt x="0" y="773430"/>
                </a:lnTo>
                <a:lnTo>
                  <a:pt x="4342" y="794920"/>
                </a:lnTo>
                <a:lnTo>
                  <a:pt x="16182" y="812482"/>
                </a:lnTo>
                <a:lnTo>
                  <a:pt x="33743" y="824329"/>
                </a:lnTo>
                <a:lnTo>
                  <a:pt x="55245" y="828675"/>
                </a:lnTo>
                <a:lnTo>
                  <a:pt x="4059554" y="828675"/>
                </a:lnTo>
                <a:lnTo>
                  <a:pt x="4081045" y="824329"/>
                </a:lnTo>
                <a:lnTo>
                  <a:pt x="4098607" y="812482"/>
                </a:lnTo>
                <a:lnTo>
                  <a:pt x="4110454" y="794920"/>
                </a:lnTo>
                <a:lnTo>
                  <a:pt x="4114800" y="773430"/>
                </a:lnTo>
                <a:lnTo>
                  <a:pt x="4114800" y="55245"/>
                </a:lnTo>
                <a:lnTo>
                  <a:pt x="4110454" y="33754"/>
                </a:lnTo>
                <a:lnTo>
                  <a:pt x="4098607" y="16192"/>
                </a:lnTo>
                <a:lnTo>
                  <a:pt x="4081045" y="4345"/>
                </a:lnTo>
                <a:lnTo>
                  <a:pt x="4059554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3377" y="1020334"/>
            <a:ext cx="2592705" cy="73025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Loading</a:t>
            </a:r>
            <a:r>
              <a:rPr dirty="0" sz="1400" spc="-3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400" spc="-4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Dataset</a:t>
            </a:r>
            <a:endParaRPr sz="1400">
              <a:latin typeface="Cambria"/>
              <a:cs typeface="Cambria"/>
            </a:endParaRPr>
          </a:p>
          <a:p>
            <a:pPr marL="149860" marR="5080">
              <a:lnSpc>
                <a:spcPct val="119500"/>
              </a:lnSpc>
              <a:spcBef>
                <a:spcPts val="175"/>
              </a:spcBef>
            </a:pP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from</a:t>
            </a:r>
            <a:r>
              <a:rPr dirty="0" sz="1100" spc="26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google.colab</a:t>
            </a:r>
            <a:r>
              <a:rPr dirty="0" sz="1100" spc="27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import</a:t>
            </a:r>
            <a:r>
              <a:rPr dirty="0" sz="1100" spc="27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20">
                <a:solidFill>
                  <a:srgbClr val="182C4A"/>
                </a:solidFill>
                <a:latin typeface="Consolas"/>
                <a:cs typeface="Consolas"/>
              </a:rPr>
              <a:t>files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upload</a:t>
            </a:r>
            <a:r>
              <a:rPr dirty="0" sz="1100" spc="15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=</a:t>
            </a:r>
            <a:r>
              <a:rPr dirty="0" sz="1100" spc="16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82C4A"/>
                </a:solidFill>
                <a:latin typeface="Consolas"/>
                <a:cs typeface="Consolas"/>
              </a:rPr>
              <a:t>files.upload()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5350" y="1276350"/>
            <a:ext cx="4029075" cy="828675"/>
          </a:xfrm>
          <a:custGeom>
            <a:avLst/>
            <a:gdLst/>
            <a:ahLst/>
            <a:cxnLst/>
            <a:rect l="l" t="t" r="r" b="b"/>
            <a:pathLst>
              <a:path w="4029075" h="828675">
                <a:moveTo>
                  <a:pt x="3973829" y="0"/>
                </a:moveTo>
                <a:lnTo>
                  <a:pt x="55245" y="0"/>
                </a:lnTo>
                <a:lnTo>
                  <a:pt x="33754" y="4345"/>
                </a:lnTo>
                <a:lnTo>
                  <a:pt x="16192" y="16192"/>
                </a:lnTo>
                <a:lnTo>
                  <a:pt x="4345" y="33754"/>
                </a:lnTo>
                <a:lnTo>
                  <a:pt x="0" y="55245"/>
                </a:lnTo>
                <a:lnTo>
                  <a:pt x="0" y="773430"/>
                </a:lnTo>
                <a:lnTo>
                  <a:pt x="4345" y="794920"/>
                </a:lnTo>
                <a:lnTo>
                  <a:pt x="16192" y="812482"/>
                </a:lnTo>
                <a:lnTo>
                  <a:pt x="33754" y="824329"/>
                </a:lnTo>
                <a:lnTo>
                  <a:pt x="55245" y="828675"/>
                </a:lnTo>
                <a:lnTo>
                  <a:pt x="3973829" y="828675"/>
                </a:lnTo>
                <a:lnTo>
                  <a:pt x="3995320" y="824329"/>
                </a:lnTo>
                <a:lnTo>
                  <a:pt x="4012882" y="812482"/>
                </a:lnTo>
                <a:lnTo>
                  <a:pt x="4024729" y="794920"/>
                </a:lnTo>
                <a:lnTo>
                  <a:pt x="4029075" y="773430"/>
                </a:lnTo>
                <a:lnTo>
                  <a:pt x="4029075" y="55245"/>
                </a:lnTo>
                <a:lnTo>
                  <a:pt x="4024729" y="33754"/>
                </a:lnTo>
                <a:lnTo>
                  <a:pt x="4012882" y="16192"/>
                </a:lnTo>
                <a:lnTo>
                  <a:pt x="3995320" y="4345"/>
                </a:lnTo>
                <a:lnTo>
                  <a:pt x="3973829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701159" y="1032414"/>
            <a:ext cx="2449195" cy="6991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Check</a:t>
            </a:r>
            <a:r>
              <a:rPr dirty="0" sz="1400" spc="-3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Dataset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20" b="1">
                <a:solidFill>
                  <a:srgbClr val="182C4A"/>
                </a:solidFill>
                <a:latin typeface="Cambria"/>
                <a:cs typeface="Cambria"/>
              </a:rPr>
              <a:t>Size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355"/>
              </a:spcBef>
            </a:pP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print("Rows:",</a:t>
            </a:r>
            <a:r>
              <a:rPr dirty="0" sz="1100" spc="-3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82C4A"/>
                </a:solidFill>
                <a:latin typeface="Consolas"/>
                <a:cs typeface="Consolas"/>
              </a:rPr>
              <a:t>df.shape[0])</a:t>
            </a:r>
            <a:endParaRPr sz="1100">
              <a:latin typeface="Consolas"/>
              <a:cs typeface="Consolas"/>
            </a:endParaRPr>
          </a:p>
          <a:p>
            <a:pPr marL="149860">
              <a:lnSpc>
                <a:spcPct val="100000"/>
              </a:lnSpc>
              <a:spcBef>
                <a:spcPts val="185"/>
              </a:spcBef>
            </a:pPr>
            <a:r>
              <a:rPr dirty="0" sz="1100">
                <a:solidFill>
                  <a:srgbClr val="182C4A"/>
                </a:solidFill>
                <a:latin typeface="Consolas"/>
                <a:cs typeface="Consolas"/>
              </a:rPr>
              <a:t>print("Columns:",</a:t>
            </a:r>
            <a:r>
              <a:rPr dirty="0" sz="1100" spc="-4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182C4A"/>
                </a:solidFill>
                <a:latin typeface="Consolas"/>
                <a:cs typeface="Consolas"/>
              </a:rPr>
              <a:t>df.shape[1])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1950" y="2609850"/>
            <a:ext cx="2381250" cy="495300"/>
          </a:xfrm>
          <a:custGeom>
            <a:avLst/>
            <a:gdLst/>
            <a:ahLst/>
            <a:cxnLst/>
            <a:rect l="l" t="t" r="r" b="b"/>
            <a:pathLst>
              <a:path w="2381250" h="495300">
                <a:moveTo>
                  <a:pt x="2327275" y="0"/>
                </a:moveTo>
                <a:lnTo>
                  <a:pt x="54025" y="0"/>
                </a:lnTo>
                <a:lnTo>
                  <a:pt x="32998" y="4236"/>
                </a:lnTo>
                <a:lnTo>
                  <a:pt x="15825" y="15795"/>
                </a:lnTo>
                <a:lnTo>
                  <a:pt x="4246" y="32950"/>
                </a:lnTo>
                <a:lnTo>
                  <a:pt x="0" y="53975"/>
                </a:lnTo>
                <a:lnTo>
                  <a:pt x="0" y="441325"/>
                </a:lnTo>
                <a:lnTo>
                  <a:pt x="4246" y="462349"/>
                </a:lnTo>
                <a:lnTo>
                  <a:pt x="15825" y="479504"/>
                </a:lnTo>
                <a:lnTo>
                  <a:pt x="32998" y="491063"/>
                </a:lnTo>
                <a:lnTo>
                  <a:pt x="54025" y="495300"/>
                </a:lnTo>
                <a:lnTo>
                  <a:pt x="2327275" y="495300"/>
                </a:lnTo>
                <a:lnTo>
                  <a:pt x="2348299" y="491063"/>
                </a:lnTo>
                <a:lnTo>
                  <a:pt x="2365454" y="479504"/>
                </a:lnTo>
                <a:lnTo>
                  <a:pt x="2377013" y="462349"/>
                </a:lnTo>
                <a:lnTo>
                  <a:pt x="2381250" y="441325"/>
                </a:lnTo>
                <a:lnTo>
                  <a:pt x="2381250" y="53975"/>
                </a:lnTo>
                <a:lnTo>
                  <a:pt x="2377013" y="32950"/>
                </a:lnTo>
                <a:lnTo>
                  <a:pt x="2365454" y="15795"/>
                </a:lnTo>
                <a:lnTo>
                  <a:pt x="2348299" y="4236"/>
                </a:lnTo>
                <a:lnTo>
                  <a:pt x="2327275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3377" y="2275204"/>
            <a:ext cx="3077845" cy="13049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Display</a:t>
            </a:r>
            <a:r>
              <a:rPr dirty="0" sz="1400" spc="-4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400" spc="-4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Dataset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1510"/>
              </a:spcBef>
            </a:pPr>
            <a:r>
              <a:rPr dirty="0" sz="1250" spc="-10">
                <a:solidFill>
                  <a:srgbClr val="182C4A"/>
                </a:solidFill>
                <a:latin typeface="Consolas"/>
                <a:cs typeface="Consolas"/>
              </a:rPr>
              <a:t>df.head()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This</a:t>
            </a:r>
            <a:r>
              <a:rPr dirty="0" sz="1250" spc="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displays</a:t>
            </a:r>
            <a:r>
              <a:rPr dirty="0" sz="1250" spc="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250" spc="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first</a:t>
            </a:r>
            <a:r>
              <a:rPr dirty="0" sz="1250" spc="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5</a:t>
            </a:r>
            <a:r>
              <a:rPr dirty="0" sz="1250" spc="1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rows</a:t>
            </a:r>
            <a:r>
              <a:rPr dirty="0" sz="1250" spc="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of</a:t>
            </a:r>
            <a:r>
              <a:rPr dirty="0" sz="1250" spc="8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250" spc="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dataset.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1159" y="2306256"/>
            <a:ext cx="975994" cy="453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>
                <a:solidFill>
                  <a:srgbClr val="182C4A"/>
                </a:solidFill>
                <a:latin typeface="Cambria"/>
                <a:cs typeface="Cambria"/>
              </a:rPr>
              <a:t>Rows:</a:t>
            </a:r>
            <a:r>
              <a:rPr dirty="0" sz="140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20">
                <a:solidFill>
                  <a:srgbClr val="182C4A"/>
                </a:solidFill>
                <a:latin typeface="Cambria"/>
                <a:cs typeface="Cambria"/>
              </a:rPr>
              <a:t>1200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solidFill>
                  <a:srgbClr val="182C4A"/>
                </a:solidFill>
                <a:latin typeface="Cambria"/>
                <a:cs typeface="Cambria"/>
              </a:rPr>
              <a:t>Columns:</a:t>
            </a:r>
            <a:r>
              <a:rPr dirty="0" sz="140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25">
                <a:solidFill>
                  <a:srgbClr val="182C4A"/>
                </a:solidFill>
                <a:latin typeface="Cambria"/>
                <a:cs typeface="Cambria"/>
              </a:rPr>
              <a:t>18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05350" y="3333750"/>
            <a:ext cx="4029075" cy="504825"/>
          </a:xfrm>
          <a:custGeom>
            <a:avLst/>
            <a:gdLst/>
            <a:ahLst/>
            <a:cxnLst/>
            <a:rect l="l" t="t" r="r" b="b"/>
            <a:pathLst>
              <a:path w="4029075" h="504825">
                <a:moveTo>
                  <a:pt x="3973956" y="0"/>
                </a:moveTo>
                <a:lnTo>
                  <a:pt x="55117" y="0"/>
                </a:lnTo>
                <a:lnTo>
                  <a:pt x="33647" y="4325"/>
                </a:lnTo>
                <a:lnTo>
                  <a:pt x="16128" y="16128"/>
                </a:lnTo>
                <a:lnTo>
                  <a:pt x="4325" y="33647"/>
                </a:lnTo>
                <a:lnTo>
                  <a:pt x="0" y="55118"/>
                </a:lnTo>
                <a:lnTo>
                  <a:pt x="0" y="449706"/>
                </a:lnTo>
                <a:lnTo>
                  <a:pt x="4325" y="471177"/>
                </a:lnTo>
                <a:lnTo>
                  <a:pt x="16128" y="488696"/>
                </a:lnTo>
                <a:lnTo>
                  <a:pt x="33647" y="500499"/>
                </a:lnTo>
                <a:lnTo>
                  <a:pt x="55117" y="504825"/>
                </a:lnTo>
                <a:lnTo>
                  <a:pt x="3973956" y="504825"/>
                </a:lnTo>
                <a:lnTo>
                  <a:pt x="3995427" y="500499"/>
                </a:lnTo>
                <a:lnTo>
                  <a:pt x="4012945" y="488695"/>
                </a:lnTo>
                <a:lnTo>
                  <a:pt x="4024749" y="471177"/>
                </a:lnTo>
                <a:lnTo>
                  <a:pt x="4029075" y="449706"/>
                </a:lnTo>
                <a:lnTo>
                  <a:pt x="4029075" y="55118"/>
                </a:lnTo>
                <a:lnTo>
                  <a:pt x="4024749" y="33647"/>
                </a:lnTo>
                <a:lnTo>
                  <a:pt x="4012945" y="16128"/>
                </a:lnTo>
                <a:lnTo>
                  <a:pt x="3995427" y="4325"/>
                </a:lnTo>
                <a:lnTo>
                  <a:pt x="3973956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01159" y="3008566"/>
            <a:ext cx="2063114" cy="581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Check</a:t>
            </a:r>
            <a:r>
              <a:rPr dirty="0" sz="1400" spc="-2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Column</a:t>
            </a:r>
            <a:r>
              <a:rPr dirty="0" sz="1400" spc="-3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Names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1410"/>
              </a:spcBef>
            </a:pP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print(df.columns.tolist())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" name="object 14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Step</a:t>
            </a:r>
            <a:r>
              <a:rPr dirty="0" sz="3200" spc="-30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2</a:t>
            </a:r>
            <a:r>
              <a:rPr dirty="0" sz="3200" spc="74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Data</a:t>
            </a:r>
            <a:r>
              <a:rPr dirty="0" sz="3200" spc="-30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Understanding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50" y="1323975"/>
            <a:ext cx="2743200" cy="504825"/>
          </a:xfrm>
          <a:custGeom>
            <a:avLst/>
            <a:gdLst/>
            <a:ahLst/>
            <a:cxnLst/>
            <a:rect l="l" t="t" r="r" b="b"/>
            <a:pathLst>
              <a:path w="2743200" h="504825">
                <a:moveTo>
                  <a:pt x="2688082" y="0"/>
                </a:moveTo>
                <a:lnTo>
                  <a:pt x="55067" y="0"/>
                </a:lnTo>
                <a:lnTo>
                  <a:pt x="33630" y="4325"/>
                </a:lnTo>
                <a:lnTo>
                  <a:pt x="16127" y="16128"/>
                </a:lnTo>
                <a:lnTo>
                  <a:pt x="4326" y="33647"/>
                </a:lnTo>
                <a:lnTo>
                  <a:pt x="0" y="55117"/>
                </a:lnTo>
                <a:lnTo>
                  <a:pt x="0" y="449707"/>
                </a:lnTo>
                <a:lnTo>
                  <a:pt x="4326" y="471177"/>
                </a:lnTo>
                <a:lnTo>
                  <a:pt x="16127" y="488696"/>
                </a:lnTo>
                <a:lnTo>
                  <a:pt x="33630" y="500499"/>
                </a:lnTo>
                <a:lnTo>
                  <a:pt x="55067" y="504825"/>
                </a:lnTo>
                <a:lnTo>
                  <a:pt x="2688082" y="504825"/>
                </a:lnTo>
                <a:lnTo>
                  <a:pt x="2709552" y="500499"/>
                </a:lnTo>
                <a:lnTo>
                  <a:pt x="2727071" y="488696"/>
                </a:lnTo>
                <a:lnTo>
                  <a:pt x="2738874" y="471177"/>
                </a:lnTo>
                <a:lnTo>
                  <a:pt x="2743200" y="449707"/>
                </a:lnTo>
                <a:lnTo>
                  <a:pt x="2743200" y="55117"/>
                </a:lnTo>
                <a:lnTo>
                  <a:pt x="2738874" y="33647"/>
                </a:lnTo>
                <a:lnTo>
                  <a:pt x="2727071" y="16128"/>
                </a:lnTo>
                <a:lnTo>
                  <a:pt x="2709552" y="4325"/>
                </a:lnTo>
                <a:lnTo>
                  <a:pt x="2688082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3377" y="976228"/>
            <a:ext cx="2191385" cy="64262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Check</a:t>
            </a:r>
            <a:r>
              <a:rPr dirty="0" sz="1400" spc="-4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Statistical</a:t>
            </a:r>
            <a:r>
              <a:rPr dirty="0" sz="1400" spc="-1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Summary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790"/>
              </a:spcBef>
            </a:pPr>
            <a:r>
              <a:rPr dirty="0" sz="1250" spc="-10">
                <a:solidFill>
                  <a:srgbClr val="182C4A"/>
                </a:solidFill>
                <a:latin typeface="Consolas"/>
                <a:cs typeface="Consolas"/>
              </a:rPr>
              <a:t>df.describe()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377" y="2033206"/>
            <a:ext cx="3942079" cy="4114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This</a:t>
            </a:r>
            <a:r>
              <a:rPr dirty="0" sz="1250" spc="9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gives</a:t>
            </a:r>
            <a:r>
              <a:rPr dirty="0" sz="1250" spc="9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statistical</a:t>
            </a:r>
            <a:r>
              <a:rPr dirty="0" sz="1250" spc="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information</a:t>
            </a:r>
            <a:r>
              <a:rPr dirty="0" sz="1250" spc="18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for</a:t>
            </a:r>
            <a:r>
              <a:rPr dirty="0" sz="1250" spc="1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numerical</a:t>
            </a:r>
            <a:r>
              <a:rPr dirty="0" sz="1250" spc="1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columns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such</a:t>
            </a:r>
            <a:r>
              <a:rPr dirty="0" sz="1250" spc="8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25">
                <a:solidFill>
                  <a:srgbClr val="182C4A"/>
                </a:solidFill>
                <a:latin typeface="Cambria"/>
                <a:cs typeface="Cambria"/>
              </a:rPr>
              <a:t>as: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294" y="2340546"/>
            <a:ext cx="1705610" cy="183896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Count</a:t>
            </a:r>
            <a:endParaRPr sz="12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dirty="0" sz="1250" spc="-20">
                <a:solidFill>
                  <a:srgbClr val="182C4A"/>
                </a:solidFill>
                <a:latin typeface="Cambria"/>
                <a:cs typeface="Cambria"/>
              </a:rPr>
              <a:t>Mean</a:t>
            </a:r>
            <a:endParaRPr sz="12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Standard</a:t>
            </a:r>
            <a:r>
              <a:rPr dirty="0" sz="1250" spc="1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deviation</a:t>
            </a:r>
            <a:endParaRPr sz="12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Minimum</a:t>
            </a:r>
            <a:endParaRPr sz="12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Maximum</a:t>
            </a:r>
            <a:endParaRPr sz="12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Quartiles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5350" y="1504949"/>
            <a:ext cx="4029075" cy="2105025"/>
          </a:xfrm>
          <a:custGeom>
            <a:avLst/>
            <a:gdLst/>
            <a:ahLst/>
            <a:cxnLst/>
            <a:rect l="l" t="t" r="r" b="b"/>
            <a:pathLst>
              <a:path w="4029075" h="2105025">
                <a:moveTo>
                  <a:pt x="3752850" y="655193"/>
                </a:moveTo>
                <a:lnTo>
                  <a:pt x="3748519" y="633730"/>
                </a:lnTo>
                <a:lnTo>
                  <a:pt x="3736708" y="616204"/>
                </a:lnTo>
                <a:lnTo>
                  <a:pt x="3719195" y="604405"/>
                </a:lnTo>
                <a:lnTo>
                  <a:pt x="3697732" y="600075"/>
                </a:lnTo>
                <a:lnTo>
                  <a:pt x="55118" y="600075"/>
                </a:lnTo>
                <a:lnTo>
                  <a:pt x="33642" y="604405"/>
                </a:lnTo>
                <a:lnTo>
                  <a:pt x="16129" y="616204"/>
                </a:lnTo>
                <a:lnTo>
                  <a:pt x="4318" y="633730"/>
                </a:lnTo>
                <a:lnTo>
                  <a:pt x="0" y="655193"/>
                </a:lnTo>
                <a:lnTo>
                  <a:pt x="0" y="1049782"/>
                </a:lnTo>
                <a:lnTo>
                  <a:pt x="4318" y="1071257"/>
                </a:lnTo>
                <a:lnTo>
                  <a:pt x="16129" y="1088783"/>
                </a:lnTo>
                <a:lnTo>
                  <a:pt x="33642" y="1100582"/>
                </a:lnTo>
                <a:lnTo>
                  <a:pt x="55118" y="1104900"/>
                </a:lnTo>
                <a:lnTo>
                  <a:pt x="3697732" y="1104900"/>
                </a:lnTo>
                <a:lnTo>
                  <a:pt x="3719195" y="1100582"/>
                </a:lnTo>
                <a:lnTo>
                  <a:pt x="3736708" y="1088783"/>
                </a:lnTo>
                <a:lnTo>
                  <a:pt x="3748519" y="1071257"/>
                </a:lnTo>
                <a:lnTo>
                  <a:pt x="3752850" y="1049782"/>
                </a:lnTo>
                <a:lnTo>
                  <a:pt x="3752850" y="655193"/>
                </a:lnTo>
                <a:close/>
              </a:path>
              <a:path w="4029075" h="2105025">
                <a:moveTo>
                  <a:pt x="3752850" y="55118"/>
                </a:moveTo>
                <a:lnTo>
                  <a:pt x="3748519" y="33655"/>
                </a:lnTo>
                <a:lnTo>
                  <a:pt x="3736708" y="16129"/>
                </a:lnTo>
                <a:lnTo>
                  <a:pt x="3719195" y="4330"/>
                </a:lnTo>
                <a:lnTo>
                  <a:pt x="3697732" y="0"/>
                </a:lnTo>
                <a:lnTo>
                  <a:pt x="55118" y="0"/>
                </a:lnTo>
                <a:lnTo>
                  <a:pt x="33642" y="4330"/>
                </a:lnTo>
                <a:lnTo>
                  <a:pt x="16129" y="16129"/>
                </a:lnTo>
                <a:lnTo>
                  <a:pt x="4318" y="33655"/>
                </a:lnTo>
                <a:lnTo>
                  <a:pt x="0" y="55118"/>
                </a:lnTo>
                <a:lnTo>
                  <a:pt x="0" y="449707"/>
                </a:lnTo>
                <a:lnTo>
                  <a:pt x="4318" y="471182"/>
                </a:lnTo>
                <a:lnTo>
                  <a:pt x="16129" y="488708"/>
                </a:lnTo>
                <a:lnTo>
                  <a:pt x="33642" y="500507"/>
                </a:lnTo>
                <a:lnTo>
                  <a:pt x="55118" y="504825"/>
                </a:lnTo>
                <a:lnTo>
                  <a:pt x="3697732" y="504825"/>
                </a:lnTo>
                <a:lnTo>
                  <a:pt x="3719195" y="500507"/>
                </a:lnTo>
                <a:lnTo>
                  <a:pt x="3736708" y="488708"/>
                </a:lnTo>
                <a:lnTo>
                  <a:pt x="3748519" y="471182"/>
                </a:lnTo>
                <a:lnTo>
                  <a:pt x="3752850" y="449707"/>
                </a:lnTo>
                <a:lnTo>
                  <a:pt x="3752850" y="55118"/>
                </a:lnTo>
                <a:close/>
              </a:path>
              <a:path w="4029075" h="2105025">
                <a:moveTo>
                  <a:pt x="4029075" y="1655318"/>
                </a:moveTo>
                <a:lnTo>
                  <a:pt x="4024744" y="1633855"/>
                </a:lnTo>
                <a:lnTo>
                  <a:pt x="4012933" y="1616329"/>
                </a:lnTo>
                <a:lnTo>
                  <a:pt x="3995420" y="1604530"/>
                </a:lnTo>
                <a:lnTo>
                  <a:pt x="3973957" y="1600200"/>
                </a:lnTo>
                <a:lnTo>
                  <a:pt x="55118" y="1600200"/>
                </a:lnTo>
                <a:lnTo>
                  <a:pt x="33642" y="1604530"/>
                </a:lnTo>
                <a:lnTo>
                  <a:pt x="16129" y="1616329"/>
                </a:lnTo>
                <a:lnTo>
                  <a:pt x="4318" y="1633855"/>
                </a:lnTo>
                <a:lnTo>
                  <a:pt x="0" y="1655318"/>
                </a:lnTo>
                <a:lnTo>
                  <a:pt x="0" y="2049907"/>
                </a:lnTo>
                <a:lnTo>
                  <a:pt x="4318" y="2071382"/>
                </a:lnTo>
                <a:lnTo>
                  <a:pt x="16129" y="2088896"/>
                </a:lnTo>
                <a:lnTo>
                  <a:pt x="33642" y="2100707"/>
                </a:lnTo>
                <a:lnTo>
                  <a:pt x="55118" y="2105025"/>
                </a:lnTo>
                <a:lnTo>
                  <a:pt x="3973957" y="2105025"/>
                </a:lnTo>
                <a:lnTo>
                  <a:pt x="3995420" y="2100707"/>
                </a:lnTo>
                <a:lnTo>
                  <a:pt x="4012933" y="2088896"/>
                </a:lnTo>
                <a:lnTo>
                  <a:pt x="4024744" y="2071382"/>
                </a:lnTo>
                <a:lnTo>
                  <a:pt x="4029075" y="2049907"/>
                </a:lnTo>
                <a:lnTo>
                  <a:pt x="4029075" y="1655318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701159" y="1176337"/>
            <a:ext cx="3327400" cy="21850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Check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 Missing</a:t>
            </a:r>
            <a:r>
              <a:rPr dirty="0" sz="1400" spc="-6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Values</a:t>
            </a:r>
            <a:r>
              <a:rPr dirty="0" sz="1400" spc="-4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&amp;</a:t>
            </a:r>
            <a:r>
              <a:rPr dirty="0" sz="1400" spc="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Duplicate</a:t>
            </a:r>
            <a:r>
              <a:rPr dirty="0" sz="1400" spc="1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Values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1440"/>
              </a:spcBef>
            </a:pPr>
            <a:r>
              <a:rPr dirty="0" sz="1250" spc="-10">
                <a:solidFill>
                  <a:srgbClr val="182C4A"/>
                </a:solidFill>
                <a:latin typeface="Consolas"/>
                <a:cs typeface="Consolas"/>
              </a:rPr>
              <a:t>df.isnull().sum()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50">
              <a:latin typeface="Consolas"/>
              <a:cs typeface="Consolas"/>
            </a:endParaRPr>
          </a:p>
          <a:p>
            <a:pPr marL="149860">
              <a:lnSpc>
                <a:spcPct val="100000"/>
              </a:lnSpc>
            </a:pPr>
            <a:r>
              <a:rPr dirty="0" sz="1250" spc="-10">
                <a:solidFill>
                  <a:srgbClr val="182C4A"/>
                </a:solidFill>
                <a:latin typeface="Consolas"/>
                <a:cs typeface="Consolas"/>
              </a:rPr>
              <a:t>df.duplicated().sum()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Understand</a:t>
            </a:r>
            <a:r>
              <a:rPr dirty="0" sz="1400" spc="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400" spc="-4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25" b="1">
                <a:solidFill>
                  <a:srgbClr val="182C4A"/>
                </a:solidFill>
                <a:latin typeface="Cambria"/>
                <a:cs typeface="Cambria"/>
              </a:rPr>
              <a:t>Target</a:t>
            </a:r>
            <a:r>
              <a:rPr dirty="0" sz="1400" spc="-3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Variable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1410"/>
              </a:spcBef>
            </a:pP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df["Match</a:t>
            </a:r>
            <a:r>
              <a:rPr dirty="0" sz="1050" spc="-2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Result"].value_counts()</a:t>
            </a:r>
            <a:endParaRPr sz="1050">
              <a:latin typeface="Consolas"/>
              <a:cs typeface="Consola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702809" y="3696970"/>
          <a:ext cx="301498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1188720"/>
              </a:tblGrid>
              <a:tr h="2667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b="1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Match</a:t>
                      </a:r>
                      <a:r>
                        <a:rPr dirty="0" sz="1100" spc="160" b="1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Result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10" b="1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Count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-2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Win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-2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620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2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Loss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-2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540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No</a:t>
                      </a:r>
                      <a:r>
                        <a:rPr dirty="0" sz="1100" spc="55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Result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100" spc="30">
                          <a:solidFill>
                            <a:srgbClr val="111111"/>
                          </a:solidFill>
                          <a:latin typeface="Cambria"/>
                          <a:cs typeface="Cambria"/>
                        </a:rPr>
                        <a:t>40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" name="object 12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Step</a:t>
            </a:r>
            <a:r>
              <a:rPr dirty="0" sz="3200" spc="-2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3</a:t>
            </a:r>
            <a:r>
              <a:rPr dirty="0" sz="3200" spc="69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Data</a:t>
            </a:r>
            <a:r>
              <a:rPr dirty="0" sz="3200" spc="-30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Cleaning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22691" y="62198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182C4A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50" y="1323975"/>
            <a:ext cx="4114800" cy="866775"/>
          </a:xfrm>
          <a:custGeom>
            <a:avLst/>
            <a:gdLst/>
            <a:ahLst/>
            <a:cxnLst/>
            <a:rect l="l" t="t" r="r" b="b"/>
            <a:pathLst>
              <a:path w="4114800" h="866775">
                <a:moveTo>
                  <a:pt x="4060063" y="0"/>
                </a:moveTo>
                <a:lnTo>
                  <a:pt x="54749" y="0"/>
                </a:lnTo>
                <a:lnTo>
                  <a:pt x="33438" y="4302"/>
                </a:lnTo>
                <a:lnTo>
                  <a:pt x="16035" y="16033"/>
                </a:lnTo>
                <a:lnTo>
                  <a:pt x="4302" y="33432"/>
                </a:lnTo>
                <a:lnTo>
                  <a:pt x="0" y="54737"/>
                </a:lnTo>
                <a:lnTo>
                  <a:pt x="0" y="812038"/>
                </a:lnTo>
                <a:lnTo>
                  <a:pt x="4302" y="833342"/>
                </a:lnTo>
                <a:lnTo>
                  <a:pt x="16035" y="850741"/>
                </a:lnTo>
                <a:lnTo>
                  <a:pt x="33438" y="862472"/>
                </a:lnTo>
                <a:lnTo>
                  <a:pt x="54749" y="866775"/>
                </a:lnTo>
                <a:lnTo>
                  <a:pt x="4060063" y="866775"/>
                </a:lnTo>
                <a:lnTo>
                  <a:pt x="4081367" y="862472"/>
                </a:lnTo>
                <a:lnTo>
                  <a:pt x="4098766" y="850741"/>
                </a:lnTo>
                <a:lnTo>
                  <a:pt x="4110497" y="833342"/>
                </a:lnTo>
                <a:lnTo>
                  <a:pt x="4114800" y="812038"/>
                </a:lnTo>
                <a:lnTo>
                  <a:pt x="4114800" y="54737"/>
                </a:lnTo>
                <a:lnTo>
                  <a:pt x="4110497" y="33432"/>
                </a:lnTo>
                <a:lnTo>
                  <a:pt x="4098766" y="16033"/>
                </a:lnTo>
                <a:lnTo>
                  <a:pt x="4081367" y="4302"/>
                </a:lnTo>
                <a:lnTo>
                  <a:pt x="4060063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3377" y="966605"/>
            <a:ext cx="3003550" cy="79946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Correct</a:t>
            </a:r>
            <a:r>
              <a:rPr dirty="0" sz="1400" spc="-4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Data</a:t>
            </a:r>
            <a:r>
              <a:rPr dirty="0" sz="1400" spc="-4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20" b="1">
                <a:solidFill>
                  <a:srgbClr val="182C4A"/>
                </a:solidFill>
                <a:latin typeface="Cambria"/>
                <a:cs typeface="Cambria"/>
              </a:rPr>
              <a:t>Types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690"/>
              </a:spcBef>
            </a:pP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df["Toss</a:t>
            </a:r>
            <a:r>
              <a:rPr dirty="0" sz="1050" spc="-5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Result"].dtype</a:t>
            </a:r>
            <a:endParaRPr sz="1050">
              <a:latin typeface="Consolas"/>
              <a:cs typeface="Consolas"/>
            </a:endParaRPr>
          </a:p>
          <a:p>
            <a:pPr marL="149860">
              <a:lnSpc>
                <a:spcPct val="100000"/>
              </a:lnSpc>
              <a:spcBef>
                <a:spcPts val="245"/>
              </a:spcBef>
            </a:pP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df["Toss</a:t>
            </a:r>
            <a:r>
              <a:rPr dirty="0" sz="1050" spc="-4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Result"]</a:t>
            </a:r>
            <a:r>
              <a:rPr dirty="0" sz="1050" spc="-4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=</a:t>
            </a:r>
            <a:r>
              <a:rPr dirty="0" sz="1050" spc="-4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pd.Categorical(...)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377" y="2666936"/>
            <a:ext cx="4034154" cy="43243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In</a:t>
            </a:r>
            <a:r>
              <a:rPr dirty="0" sz="135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this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dataset,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r>
              <a:rPr dirty="0" sz="135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35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Venue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may</a:t>
            </a:r>
            <a:r>
              <a:rPr dirty="0" sz="1350" spc="-4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be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stored</a:t>
            </a:r>
            <a:r>
              <a:rPr dirty="0" sz="135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as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text</a:t>
            </a:r>
            <a:r>
              <a:rPr dirty="0" sz="135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need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35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be</a:t>
            </a:r>
            <a:r>
              <a:rPr dirty="0" sz="135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encoded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before</a:t>
            </a:r>
            <a:r>
              <a:rPr dirty="0" sz="135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modeling.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5350" y="1323975"/>
            <a:ext cx="4029075" cy="1876425"/>
          </a:xfrm>
          <a:custGeom>
            <a:avLst/>
            <a:gdLst/>
            <a:ahLst/>
            <a:cxnLst/>
            <a:rect l="l" t="t" r="r" b="b"/>
            <a:pathLst>
              <a:path w="4029075" h="1876425">
                <a:moveTo>
                  <a:pt x="3974210" y="0"/>
                </a:moveTo>
                <a:lnTo>
                  <a:pt x="54863" y="0"/>
                </a:lnTo>
                <a:lnTo>
                  <a:pt x="33539" y="4321"/>
                </a:lnTo>
                <a:lnTo>
                  <a:pt x="16097" y="16097"/>
                </a:lnTo>
                <a:lnTo>
                  <a:pt x="4321" y="33539"/>
                </a:lnTo>
                <a:lnTo>
                  <a:pt x="0" y="54863"/>
                </a:lnTo>
                <a:lnTo>
                  <a:pt x="0" y="1821561"/>
                </a:lnTo>
                <a:lnTo>
                  <a:pt x="4321" y="1842885"/>
                </a:lnTo>
                <a:lnTo>
                  <a:pt x="16097" y="1860327"/>
                </a:lnTo>
                <a:lnTo>
                  <a:pt x="33539" y="1872103"/>
                </a:lnTo>
                <a:lnTo>
                  <a:pt x="54863" y="1876425"/>
                </a:lnTo>
                <a:lnTo>
                  <a:pt x="3974210" y="1876425"/>
                </a:lnTo>
                <a:lnTo>
                  <a:pt x="3995535" y="1872103"/>
                </a:lnTo>
                <a:lnTo>
                  <a:pt x="4012977" y="1860327"/>
                </a:lnTo>
                <a:lnTo>
                  <a:pt x="4024753" y="1842885"/>
                </a:lnTo>
                <a:lnTo>
                  <a:pt x="4029075" y="1821561"/>
                </a:lnTo>
                <a:lnTo>
                  <a:pt x="4029075" y="54863"/>
                </a:lnTo>
                <a:lnTo>
                  <a:pt x="4024753" y="33539"/>
                </a:lnTo>
                <a:lnTo>
                  <a:pt x="4012977" y="16097"/>
                </a:lnTo>
                <a:lnTo>
                  <a:pt x="3995535" y="4321"/>
                </a:lnTo>
                <a:lnTo>
                  <a:pt x="3974210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01159" y="966605"/>
            <a:ext cx="2295525" cy="190627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400" spc="-20" b="1">
                <a:solidFill>
                  <a:srgbClr val="182C4A"/>
                </a:solidFill>
                <a:latin typeface="Cambria"/>
                <a:cs typeface="Cambria"/>
              </a:rPr>
              <a:t>Remove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 Irrelevant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Columns</a:t>
            </a:r>
            <a:endParaRPr sz="1400">
              <a:latin typeface="Cambria"/>
              <a:cs typeface="Cambria"/>
            </a:endParaRPr>
          </a:p>
          <a:p>
            <a:pPr marL="441959" marR="535305" indent="-292735">
              <a:lnSpc>
                <a:spcPct val="115300"/>
              </a:lnSpc>
              <a:spcBef>
                <a:spcPts val="495"/>
              </a:spcBef>
            </a:pP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columns_to_drop</a:t>
            </a:r>
            <a:r>
              <a:rPr dirty="0" sz="1050" spc="-1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=</a:t>
            </a:r>
            <a:r>
              <a:rPr dirty="0" sz="1050" spc="-7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182C4A"/>
                </a:solidFill>
                <a:latin typeface="Consolas"/>
                <a:cs typeface="Consolas"/>
              </a:rPr>
              <a:t>[ </a:t>
            </a: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"Match</a:t>
            </a: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182C4A"/>
                </a:solidFill>
                <a:latin typeface="Consolas"/>
                <a:cs typeface="Consolas"/>
              </a:rPr>
              <a:t>ID", </a:t>
            </a: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"Player</a:t>
            </a:r>
            <a:r>
              <a:rPr dirty="0" sz="1050" spc="-4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of</a:t>
            </a:r>
            <a:r>
              <a:rPr dirty="0" sz="1050" spc="-4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Match", "City",</a:t>
            </a:r>
            <a:endParaRPr sz="1050">
              <a:latin typeface="Consolas"/>
              <a:cs typeface="Consolas"/>
            </a:endParaRPr>
          </a:p>
          <a:p>
            <a:pPr marL="441959">
              <a:lnSpc>
                <a:spcPct val="100000"/>
              </a:lnSpc>
              <a:spcBef>
                <a:spcPts val="245"/>
              </a:spcBef>
            </a:pPr>
            <a:r>
              <a:rPr dirty="0" sz="1050" spc="-10">
                <a:solidFill>
                  <a:srgbClr val="182C4A"/>
                </a:solidFill>
                <a:latin typeface="Consolas"/>
                <a:cs typeface="Consolas"/>
              </a:rPr>
              <a:t>"Date",</a:t>
            </a:r>
            <a:endParaRPr sz="1050">
              <a:latin typeface="Consolas"/>
              <a:cs typeface="Consolas"/>
            </a:endParaRPr>
          </a:p>
          <a:p>
            <a:pPr marL="441959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"Umpire</a:t>
            </a:r>
            <a:r>
              <a:rPr dirty="0" sz="1050" spc="-6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25">
                <a:solidFill>
                  <a:srgbClr val="182C4A"/>
                </a:solidFill>
                <a:latin typeface="Consolas"/>
                <a:cs typeface="Consolas"/>
              </a:rPr>
              <a:t>1",</a:t>
            </a:r>
            <a:endParaRPr sz="1050">
              <a:latin typeface="Consolas"/>
              <a:cs typeface="Consolas"/>
            </a:endParaRPr>
          </a:p>
          <a:p>
            <a:pPr marL="441959">
              <a:lnSpc>
                <a:spcPct val="100000"/>
              </a:lnSpc>
              <a:spcBef>
                <a:spcPts val="170"/>
              </a:spcBef>
            </a:pPr>
            <a:r>
              <a:rPr dirty="0" sz="1050">
                <a:solidFill>
                  <a:srgbClr val="182C4A"/>
                </a:solidFill>
                <a:latin typeface="Consolas"/>
                <a:cs typeface="Consolas"/>
              </a:rPr>
              <a:t>"Umpire</a:t>
            </a:r>
            <a:r>
              <a:rPr dirty="0" sz="1050" spc="-6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1050" spc="-25">
                <a:solidFill>
                  <a:srgbClr val="182C4A"/>
                </a:solidFill>
                <a:latin typeface="Consolas"/>
                <a:cs typeface="Consolas"/>
              </a:rPr>
              <a:t>2"</a:t>
            </a:r>
            <a:endParaRPr sz="1050">
              <a:latin typeface="Consolas"/>
              <a:cs typeface="Consolas"/>
            </a:endParaRPr>
          </a:p>
          <a:p>
            <a:pPr marL="149860">
              <a:lnSpc>
                <a:spcPct val="100000"/>
              </a:lnSpc>
              <a:spcBef>
                <a:spcPts val="244"/>
              </a:spcBef>
            </a:pPr>
            <a:r>
              <a:rPr dirty="0" sz="1050" spc="-50">
                <a:solidFill>
                  <a:srgbClr val="182C4A"/>
                </a:solidFill>
                <a:latin typeface="Consolas"/>
                <a:cs typeface="Consolas"/>
              </a:rPr>
              <a:t>]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1159" y="3571557"/>
            <a:ext cx="3402965" cy="63246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These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columns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don't</a:t>
            </a:r>
            <a:r>
              <a:rPr dirty="0" sz="135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provide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useful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predictive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information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for</a:t>
            </a:r>
            <a:r>
              <a:rPr dirty="0" sz="1350" spc="-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our</a:t>
            </a:r>
            <a:r>
              <a:rPr dirty="0" sz="1350" spc="-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match-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outcome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 modeling objective.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" name="object 11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571500"/>
            <a:ext cx="8001000" cy="457200"/>
          </a:xfrm>
          <a:prstGeom prst="rect"/>
          <a:solidFill>
            <a:srgbClr val="DBEAFD"/>
          </a:solidFill>
        </p:spPr>
        <p:txBody>
          <a:bodyPr wrap="square" lIns="0" tIns="0" rIns="0" bIns="0" rtlCol="0" vert="horz">
            <a:spAutoFit/>
          </a:bodyPr>
          <a:lstStyle/>
          <a:p>
            <a:pPr marL="457834">
              <a:lnSpc>
                <a:spcPts val="3390"/>
              </a:lnSpc>
            </a:pPr>
            <a:r>
              <a:rPr dirty="0" sz="3200">
                <a:latin typeface="Georgia"/>
                <a:cs typeface="Georgia"/>
              </a:rPr>
              <a:t>Step</a:t>
            </a:r>
            <a:r>
              <a:rPr dirty="0" sz="3200" spc="-20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4</a:t>
            </a:r>
            <a:r>
              <a:rPr dirty="0" sz="3200" spc="745">
                <a:latin typeface="Georgia"/>
                <a:cs typeface="Georgia"/>
              </a:rPr>
              <a:t> </a:t>
            </a:r>
            <a:r>
              <a:rPr dirty="0" sz="3200" spc="-25">
                <a:latin typeface="Georgia"/>
                <a:cs typeface="Georgia"/>
              </a:rPr>
              <a:t>EDA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273415" y="621982"/>
            <a:ext cx="2165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182C4A"/>
                </a:solidFill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50" y="1466850"/>
            <a:ext cx="4114800" cy="1228725"/>
          </a:xfrm>
          <a:custGeom>
            <a:avLst/>
            <a:gdLst/>
            <a:ahLst/>
            <a:cxnLst/>
            <a:rect l="l" t="t" r="r" b="b"/>
            <a:pathLst>
              <a:path w="4114800" h="1228725">
                <a:moveTo>
                  <a:pt x="4060190" y="0"/>
                </a:moveTo>
                <a:lnTo>
                  <a:pt x="54597" y="0"/>
                </a:lnTo>
                <a:lnTo>
                  <a:pt x="33347" y="4282"/>
                </a:lnTo>
                <a:lnTo>
                  <a:pt x="15992" y="15970"/>
                </a:lnTo>
                <a:lnTo>
                  <a:pt x="4291" y="33325"/>
                </a:lnTo>
                <a:lnTo>
                  <a:pt x="0" y="54610"/>
                </a:lnTo>
                <a:lnTo>
                  <a:pt x="0" y="1174114"/>
                </a:lnTo>
                <a:lnTo>
                  <a:pt x="4291" y="1195399"/>
                </a:lnTo>
                <a:lnTo>
                  <a:pt x="15992" y="1212754"/>
                </a:lnTo>
                <a:lnTo>
                  <a:pt x="33347" y="1224442"/>
                </a:lnTo>
                <a:lnTo>
                  <a:pt x="54597" y="1228725"/>
                </a:lnTo>
                <a:lnTo>
                  <a:pt x="4060190" y="1228725"/>
                </a:lnTo>
                <a:lnTo>
                  <a:pt x="4081474" y="1224442"/>
                </a:lnTo>
                <a:lnTo>
                  <a:pt x="4098829" y="1212754"/>
                </a:lnTo>
                <a:lnTo>
                  <a:pt x="4110517" y="1195399"/>
                </a:lnTo>
                <a:lnTo>
                  <a:pt x="4114800" y="1174114"/>
                </a:lnTo>
                <a:lnTo>
                  <a:pt x="4114800" y="54610"/>
                </a:lnTo>
                <a:lnTo>
                  <a:pt x="4110517" y="33325"/>
                </a:lnTo>
                <a:lnTo>
                  <a:pt x="4098829" y="15970"/>
                </a:lnTo>
                <a:lnTo>
                  <a:pt x="4081474" y="4282"/>
                </a:lnTo>
                <a:lnTo>
                  <a:pt x="4060190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3377" y="1094041"/>
            <a:ext cx="3928110" cy="1112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250" spc="8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understand</a:t>
            </a:r>
            <a:r>
              <a:rPr dirty="0" sz="1250" spc="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250" spc="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proportion</a:t>
            </a:r>
            <a:r>
              <a:rPr dirty="0" sz="1250" spc="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of</a:t>
            </a:r>
            <a:r>
              <a:rPr dirty="0" sz="1250" spc="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Win</a:t>
            </a:r>
            <a:r>
              <a:rPr dirty="0" sz="1250" spc="1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/</a:t>
            </a:r>
            <a:r>
              <a:rPr dirty="0" sz="1250" spc="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Loss</a:t>
            </a:r>
            <a:r>
              <a:rPr dirty="0" sz="1250" spc="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/</a:t>
            </a:r>
            <a:r>
              <a:rPr dirty="0" sz="1250" spc="1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No</a:t>
            </a:r>
            <a:r>
              <a:rPr dirty="0" sz="1250" spc="8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matches.</a:t>
            </a:r>
            <a:endParaRPr sz="1250">
              <a:latin typeface="Cambria"/>
              <a:cs typeface="Cambria"/>
            </a:endParaRPr>
          </a:p>
          <a:p>
            <a:pPr marL="149860" marR="1102360">
              <a:lnSpc>
                <a:spcPct val="116500"/>
              </a:lnSpc>
              <a:spcBef>
                <a:spcPts val="210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plt.figure(figsize=(6,</a:t>
            </a:r>
            <a:r>
              <a:rPr dirty="0" sz="950" spc="-9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25">
                <a:solidFill>
                  <a:srgbClr val="182C4A"/>
                </a:solidFill>
                <a:latin typeface="Consolas"/>
                <a:cs typeface="Consolas"/>
              </a:rPr>
              <a:t>4))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sns.countplot(data=df,</a:t>
            </a:r>
            <a:r>
              <a:rPr dirty="0" sz="950" spc="-7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x="Match</a:t>
            </a:r>
            <a:r>
              <a:rPr dirty="0" sz="950" spc="-6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Result")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plt.title("Match</a:t>
            </a:r>
            <a:r>
              <a:rPr dirty="0" sz="950" spc="-4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Result</a:t>
            </a:r>
            <a:r>
              <a:rPr dirty="0" sz="950" spc="-4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Distribution") plt.show()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276350"/>
            <a:ext cx="8277225" cy="3657600"/>
            <a:chOff x="457200" y="1276350"/>
            <a:chExt cx="8277225" cy="3657600"/>
          </a:xfrm>
        </p:grpSpPr>
        <p:pic>
          <p:nvPicPr>
            <p:cNvPr id="7" name="object 7" descr="/home/claude/klhdeck/match_result_char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790825"/>
              <a:ext cx="3752850" cy="21431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05350" y="1276350"/>
              <a:ext cx="4029075" cy="1371600"/>
            </a:xfrm>
            <a:custGeom>
              <a:avLst/>
              <a:gdLst/>
              <a:ahLst/>
              <a:cxnLst/>
              <a:rect l="l" t="t" r="r" b="b"/>
              <a:pathLst>
                <a:path w="4029075" h="1371600">
                  <a:moveTo>
                    <a:pt x="397421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316736"/>
                  </a:lnTo>
                  <a:lnTo>
                    <a:pt x="4304" y="1338113"/>
                  </a:lnTo>
                  <a:lnTo>
                    <a:pt x="16049" y="1355550"/>
                  </a:lnTo>
                  <a:lnTo>
                    <a:pt x="33486" y="1367295"/>
                  </a:lnTo>
                  <a:lnTo>
                    <a:pt x="54863" y="1371600"/>
                  </a:lnTo>
                  <a:lnTo>
                    <a:pt x="3974210" y="1371600"/>
                  </a:lnTo>
                  <a:lnTo>
                    <a:pt x="3995588" y="1367295"/>
                  </a:lnTo>
                  <a:lnTo>
                    <a:pt x="4013025" y="1355550"/>
                  </a:lnTo>
                  <a:lnTo>
                    <a:pt x="4024770" y="1338113"/>
                  </a:lnTo>
                  <a:lnTo>
                    <a:pt x="4029075" y="1316736"/>
                  </a:lnTo>
                  <a:lnTo>
                    <a:pt x="4029075" y="54863"/>
                  </a:lnTo>
                  <a:lnTo>
                    <a:pt x="4024770" y="33486"/>
                  </a:lnTo>
                  <a:lnTo>
                    <a:pt x="4013025" y="16049"/>
                  </a:lnTo>
                  <a:lnTo>
                    <a:pt x="3995588" y="4304"/>
                  </a:lnTo>
                  <a:lnTo>
                    <a:pt x="397421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701159" y="1024468"/>
            <a:ext cx="3496945" cy="116141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400" spc="-2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r>
              <a:rPr dirty="0" sz="1400" spc="-3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mbria"/>
                <a:cs typeface="Cambria"/>
              </a:rPr>
              <a:t>vs</a:t>
            </a:r>
            <a:r>
              <a:rPr dirty="0" sz="1400" spc="-20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25" b="1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r>
              <a:rPr dirty="0" sz="1400" spc="-65" b="1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endParaRPr sz="1400">
              <a:latin typeface="Cambria"/>
              <a:cs typeface="Cambria"/>
            </a:endParaRPr>
          </a:p>
          <a:p>
            <a:pPr marL="149860">
              <a:lnSpc>
                <a:spcPct val="100000"/>
              </a:lnSpc>
              <a:spcBef>
                <a:spcPts val="35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plt.figure(figsize=(8,</a:t>
            </a:r>
            <a:r>
              <a:rPr dirty="0" sz="950" spc="-9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25">
                <a:solidFill>
                  <a:srgbClr val="182C4A"/>
                </a:solidFill>
                <a:latin typeface="Consolas"/>
                <a:cs typeface="Consolas"/>
              </a:rPr>
              <a:t>5))</a:t>
            </a:r>
            <a:endParaRPr sz="950">
              <a:latin typeface="Consolas"/>
              <a:cs typeface="Consolas"/>
            </a:endParaRPr>
          </a:p>
          <a:p>
            <a:pPr marL="149860" marR="5080">
              <a:lnSpc>
                <a:spcPct val="112100"/>
              </a:lnSpc>
              <a:spcBef>
                <a:spcPts val="7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sns.countplot(data=df,</a:t>
            </a:r>
            <a:r>
              <a:rPr dirty="0" sz="950" spc="-5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x="Toss</a:t>
            </a:r>
            <a:r>
              <a:rPr dirty="0" sz="950" spc="-5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Result",</a:t>
            </a:r>
            <a:r>
              <a:rPr dirty="0" sz="950" spc="-5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hue="Match Result")</a:t>
            </a:r>
            <a:endParaRPr sz="950">
              <a:latin typeface="Consolas"/>
              <a:cs typeface="Consolas"/>
            </a:endParaRPr>
          </a:p>
          <a:p>
            <a:pPr marL="149860" marR="1005205">
              <a:lnSpc>
                <a:spcPct val="112000"/>
              </a:lnSpc>
              <a:spcBef>
                <a:spcPts val="7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plt.title("Result</a:t>
            </a:r>
            <a:r>
              <a:rPr dirty="0" sz="950" spc="-3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by</a:t>
            </a:r>
            <a:r>
              <a:rPr dirty="0" sz="950" spc="-3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Toss</a:t>
            </a:r>
            <a:r>
              <a:rPr dirty="0" sz="950" spc="-3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Outcome") plt.show()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1159" y="2897822"/>
            <a:ext cx="4003675" cy="1153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>
                <a:solidFill>
                  <a:srgbClr val="182C4A"/>
                </a:solidFill>
                <a:latin typeface="Cambria"/>
                <a:cs typeface="Cambria"/>
              </a:rPr>
              <a:t>We</a:t>
            </a:r>
            <a:r>
              <a:rPr dirty="0" sz="135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analyze</a:t>
            </a:r>
            <a:r>
              <a:rPr dirty="0" sz="135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whether</a:t>
            </a:r>
            <a:r>
              <a:rPr dirty="0" sz="1350" spc="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350" spc="-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match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result</a:t>
            </a:r>
            <a:r>
              <a:rPr dirty="0" sz="1350" spc="-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differs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based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 on:</a:t>
            </a:r>
            <a:endParaRPr sz="1350">
              <a:latin typeface="Cambria"/>
              <a:cs typeface="Cambria"/>
            </a:endParaRPr>
          </a:p>
          <a:p>
            <a:pPr marL="584835" indent="-343535">
              <a:lnSpc>
                <a:spcPct val="100000"/>
              </a:lnSpc>
              <a:spcBef>
                <a:spcPts val="1019"/>
              </a:spcBef>
              <a:buChar char="•"/>
              <a:tabLst>
                <a:tab pos="584835" algn="l"/>
              </a:tabLst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Winning</a:t>
            </a:r>
            <a:r>
              <a:rPr dirty="0" sz="1250" spc="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250" spc="1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r>
              <a:rPr dirty="0" sz="1250" spc="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vs</a:t>
            </a:r>
            <a:r>
              <a:rPr dirty="0" sz="1250" spc="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losing</a:t>
            </a:r>
            <a:r>
              <a:rPr dirty="0" sz="1250" spc="5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250" spc="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20">
                <a:solidFill>
                  <a:srgbClr val="182C4A"/>
                </a:solidFill>
                <a:latin typeface="Cambria"/>
                <a:cs typeface="Cambria"/>
              </a:rPr>
              <a:t>toss</a:t>
            </a:r>
            <a:endParaRPr sz="1250">
              <a:latin typeface="Cambria"/>
              <a:cs typeface="Cambria"/>
            </a:endParaRPr>
          </a:p>
          <a:p>
            <a:pPr marL="584835" indent="-343535">
              <a:lnSpc>
                <a:spcPct val="100000"/>
              </a:lnSpc>
              <a:spcBef>
                <a:spcPts val="905"/>
              </a:spcBef>
              <a:buChar char="•"/>
              <a:tabLst>
                <a:tab pos="584835" algn="l"/>
              </a:tabLst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Choosing</a:t>
            </a:r>
            <a:r>
              <a:rPr dirty="0" sz="1250" spc="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250" spc="10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bat</a:t>
            </a:r>
            <a:r>
              <a:rPr dirty="0" sz="1250" spc="3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first</a:t>
            </a:r>
            <a:r>
              <a:rPr dirty="0" sz="1250" spc="1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vs</a:t>
            </a:r>
            <a:r>
              <a:rPr dirty="0" sz="1250" spc="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field</a:t>
            </a:r>
            <a:r>
              <a:rPr dirty="0" sz="1250" spc="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20">
                <a:solidFill>
                  <a:srgbClr val="182C4A"/>
                </a:solidFill>
                <a:latin typeface="Cambria"/>
                <a:cs typeface="Cambria"/>
              </a:rPr>
              <a:t>first</a:t>
            </a:r>
            <a:endParaRPr sz="1250">
              <a:latin typeface="Cambria"/>
              <a:cs typeface="Cambria"/>
            </a:endParaRPr>
          </a:p>
          <a:p>
            <a:pPr marL="584835" indent="-343535">
              <a:lnSpc>
                <a:spcPct val="100000"/>
              </a:lnSpc>
              <a:spcBef>
                <a:spcPts val="830"/>
              </a:spcBef>
              <a:buChar char="•"/>
              <a:tabLst>
                <a:tab pos="584835" algn="l"/>
              </a:tabLst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Home</a:t>
            </a:r>
            <a:r>
              <a:rPr dirty="0" sz="1250" spc="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venue</a:t>
            </a:r>
            <a:r>
              <a:rPr dirty="0" sz="1250" spc="7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vs</a:t>
            </a:r>
            <a:r>
              <a:rPr dirty="0" sz="1250" spc="6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away</a:t>
            </a:r>
            <a:r>
              <a:rPr dirty="0" sz="1250" spc="5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20">
                <a:solidFill>
                  <a:srgbClr val="182C4A"/>
                </a:solidFill>
                <a:latin typeface="Cambria"/>
                <a:cs typeface="Cambria"/>
              </a:rPr>
              <a:t>venue</a:t>
            </a:r>
            <a:endParaRPr sz="125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" name="object 12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76200"/>
            <a:ext cx="9144000" cy="38100"/>
          </a:xfrm>
          <a:custGeom>
            <a:avLst/>
            <a:gdLst/>
            <a:ahLst/>
            <a:cxnLst/>
            <a:rect l="l" t="t" r="r" b="b"/>
            <a:pathLst>
              <a:path w="9144000" h="38100">
                <a:moveTo>
                  <a:pt x="0" y="38100"/>
                </a:moveTo>
                <a:lnTo>
                  <a:pt x="9144000" y="38100"/>
                </a:lnTo>
                <a:lnTo>
                  <a:pt x="9144000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9144000" h="76200">
                <a:moveTo>
                  <a:pt x="9144000" y="0"/>
                </a:moveTo>
                <a:lnTo>
                  <a:pt x="0" y="0"/>
                </a:lnTo>
                <a:lnTo>
                  <a:pt x="0" y="76200"/>
                </a:lnTo>
                <a:lnTo>
                  <a:pt x="9144000" y="76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47875" y="416813"/>
            <a:ext cx="5060950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b="1">
                <a:latin typeface="Calibri"/>
                <a:cs typeface="Calibri"/>
              </a:rPr>
              <a:t>EDA</a:t>
            </a:r>
            <a:r>
              <a:rPr dirty="0" sz="3000" spc="-1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–</a:t>
            </a:r>
            <a:r>
              <a:rPr dirty="0" sz="3000" spc="-9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Exploratory</a:t>
            </a:r>
            <a:r>
              <a:rPr dirty="0" sz="3000" spc="-10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Data</a:t>
            </a:r>
            <a:r>
              <a:rPr dirty="0" sz="3000" spc="-9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Analysis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92" y="1181544"/>
            <a:ext cx="8800465" cy="222059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192405" algn="l"/>
              </a:tabLst>
            </a:pP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Understand</a:t>
            </a:r>
            <a:r>
              <a:rPr dirty="0" sz="1400" spc="-1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the</a:t>
            </a:r>
            <a:r>
              <a:rPr dirty="0" sz="1400" spc="-10" b="1">
                <a:solidFill>
                  <a:srgbClr val="182C4A"/>
                </a:solidFill>
                <a:latin typeface="Calibri"/>
                <a:cs typeface="Calibri"/>
              </a:rPr>
              <a:t> Dataset:</a:t>
            </a:r>
            <a:r>
              <a:rPr dirty="0" sz="1400" spc="-4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Check</a:t>
            </a:r>
            <a:r>
              <a:rPr dirty="0" sz="1400" spc="-2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rows,</a:t>
            </a:r>
            <a:r>
              <a:rPr dirty="0" sz="1400" spc="-2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columns,</a:t>
            </a:r>
            <a:r>
              <a:rPr dirty="0" sz="1400" spc="-7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data</a:t>
            </a:r>
            <a:r>
              <a:rPr dirty="0" sz="1400" spc="-5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types,</a:t>
            </a:r>
            <a:r>
              <a:rPr dirty="0" sz="1400" spc="-2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missing</a:t>
            </a:r>
            <a:r>
              <a:rPr dirty="0" sz="1400" spc="-3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values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duplicates.</a:t>
            </a:r>
            <a:endParaRPr sz="1400">
              <a:latin typeface="Calibri"/>
              <a:cs typeface="Calibri"/>
            </a:endParaRPr>
          </a:p>
          <a:p>
            <a:pPr marL="192405" indent="-179705">
              <a:lnSpc>
                <a:spcPct val="100000"/>
              </a:lnSpc>
              <a:spcBef>
                <a:spcPts val="950"/>
              </a:spcBef>
              <a:buAutoNum type="arabicPeriod"/>
              <a:tabLst>
                <a:tab pos="192405" algn="l"/>
              </a:tabLst>
            </a:pPr>
            <a:r>
              <a:rPr dirty="0" sz="1400" spc="-25" b="1">
                <a:solidFill>
                  <a:srgbClr val="182C4A"/>
                </a:solidFill>
                <a:latin typeface="Calibri"/>
                <a:cs typeface="Calibri"/>
              </a:rPr>
              <a:t>Target</a:t>
            </a:r>
            <a:r>
              <a:rPr dirty="0" sz="1400" spc="1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82C4A"/>
                </a:solidFill>
                <a:latin typeface="Calibri"/>
                <a:cs typeface="Calibri"/>
              </a:rPr>
              <a:t>Distribution:</a:t>
            </a:r>
            <a:r>
              <a:rPr dirty="0" sz="1400" spc="1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Compare</a:t>
            </a:r>
            <a:r>
              <a:rPr dirty="0" sz="1400" spc="-5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Win, Loss</a:t>
            </a:r>
            <a:r>
              <a:rPr dirty="0" sz="1400" spc="-5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and</a:t>
            </a:r>
            <a:r>
              <a:rPr dirty="0" sz="1400" spc="-1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No</a:t>
            </a:r>
            <a:r>
              <a:rPr dirty="0" sz="1400" spc="-2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Result</a:t>
            </a:r>
            <a:r>
              <a:rPr dirty="0" sz="1400" spc="-5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using</a:t>
            </a:r>
            <a:r>
              <a:rPr dirty="0" sz="1400" spc="-1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count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plot.</a:t>
            </a:r>
            <a:endParaRPr sz="1400">
              <a:latin typeface="Calibri"/>
              <a:cs typeface="Calibri"/>
            </a:endParaRPr>
          </a:p>
          <a:p>
            <a:pPr marL="192405" indent="-179705">
              <a:lnSpc>
                <a:spcPct val="100000"/>
              </a:lnSpc>
              <a:spcBef>
                <a:spcPts val="869"/>
              </a:spcBef>
              <a:buAutoNum type="arabicPeriod"/>
              <a:tabLst>
                <a:tab pos="192405" algn="l"/>
              </a:tabLst>
            </a:pPr>
            <a:r>
              <a:rPr dirty="0" sz="1400" spc="-40" b="1">
                <a:solidFill>
                  <a:srgbClr val="182C4A"/>
                </a:solidFill>
                <a:latin typeface="Calibri"/>
                <a:cs typeface="Calibri"/>
              </a:rPr>
              <a:t>Toss</a:t>
            </a:r>
            <a:r>
              <a:rPr dirty="0" sz="1400" spc="-6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vs </a:t>
            </a:r>
            <a:r>
              <a:rPr dirty="0" sz="1400" spc="-10" b="1">
                <a:solidFill>
                  <a:srgbClr val="182C4A"/>
                </a:solidFill>
                <a:latin typeface="Calibri"/>
                <a:cs typeface="Calibri"/>
              </a:rPr>
              <a:t>Match</a:t>
            </a:r>
            <a:r>
              <a:rPr dirty="0" sz="1400" spc="-4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Result:</a:t>
            </a:r>
            <a:r>
              <a:rPr dirty="0" sz="1400" spc="-5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Analyze</a:t>
            </a:r>
            <a:r>
              <a:rPr dirty="0" sz="1400" spc="1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whether</a:t>
            </a:r>
            <a:r>
              <a:rPr dirty="0" sz="1400" spc="-7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toss</a:t>
            </a:r>
            <a:r>
              <a:rPr dirty="0" sz="1400" spc="-5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outcome</a:t>
            </a:r>
            <a:r>
              <a:rPr dirty="0" sz="1400" spc="1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and</a:t>
            </a:r>
            <a:r>
              <a:rPr dirty="0" sz="1400" spc="-2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decision</a:t>
            </a:r>
            <a:r>
              <a:rPr dirty="0" sz="1400" spc="-2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are</a:t>
            </a:r>
            <a:r>
              <a:rPr dirty="0" sz="1400" spc="-5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associated</a:t>
            </a:r>
            <a:r>
              <a:rPr dirty="0" sz="1400" spc="-2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with</a:t>
            </a:r>
            <a:r>
              <a:rPr dirty="0" sz="1400" spc="-2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the</a:t>
            </a:r>
            <a:r>
              <a:rPr dirty="0" sz="1400" spc="1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match</a:t>
            </a:r>
            <a:r>
              <a:rPr dirty="0" sz="1400" spc="-2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result.</a:t>
            </a:r>
            <a:endParaRPr sz="1400">
              <a:latin typeface="Calibri"/>
              <a:cs typeface="Calibri"/>
            </a:endParaRPr>
          </a:p>
          <a:p>
            <a:pPr marL="192405" indent="-179705">
              <a:lnSpc>
                <a:spcPct val="100000"/>
              </a:lnSpc>
              <a:spcBef>
                <a:spcPts val="950"/>
              </a:spcBef>
              <a:buAutoNum type="arabicPeriod"/>
              <a:tabLst>
                <a:tab pos="192405" algn="l"/>
              </a:tabLst>
            </a:pPr>
            <a:r>
              <a:rPr dirty="0" sz="1400" spc="-10" b="1">
                <a:solidFill>
                  <a:srgbClr val="182C4A"/>
                </a:solidFill>
                <a:latin typeface="Calibri"/>
                <a:cs typeface="Calibri"/>
              </a:rPr>
              <a:t>Recent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 Form</a:t>
            </a:r>
            <a:r>
              <a:rPr dirty="0" sz="1400" spc="-6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Analysis:</a:t>
            </a:r>
            <a:r>
              <a:rPr dirty="0" sz="1400" spc="-5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Compare</a:t>
            </a:r>
            <a:r>
              <a:rPr dirty="0" sz="1400" spc="-5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recent-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form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scores</a:t>
            </a:r>
            <a:r>
              <a:rPr dirty="0" sz="1400" spc="1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across</a:t>
            </a:r>
            <a:r>
              <a:rPr dirty="0" sz="1400" spc="-5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Win, Loss</a:t>
            </a:r>
            <a:r>
              <a:rPr dirty="0" sz="1400" spc="-5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and</a:t>
            </a:r>
            <a:r>
              <a:rPr dirty="0" sz="1400" spc="-2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No</a:t>
            </a:r>
            <a:r>
              <a:rPr dirty="0" sz="1400" spc="-3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Result</a:t>
            </a:r>
            <a:r>
              <a:rPr dirty="0" sz="1400" spc="-5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using</a:t>
            </a:r>
            <a:r>
              <a:rPr dirty="0" sz="1400" spc="-1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box</a:t>
            </a:r>
            <a:r>
              <a:rPr dirty="0" sz="1400" spc="3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plot.</a:t>
            </a:r>
            <a:endParaRPr sz="1400">
              <a:latin typeface="Calibri"/>
              <a:cs typeface="Calibri"/>
            </a:endParaRPr>
          </a:p>
          <a:p>
            <a:pPr marL="12700" marR="5080" indent="179705">
              <a:lnSpc>
                <a:spcPts val="1660"/>
              </a:lnSpc>
              <a:spcBef>
                <a:spcPts val="944"/>
              </a:spcBef>
              <a:buAutoNum type="arabicPeriod"/>
              <a:tabLst>
                <a:tab pos="192405" algn="l"/>
              </a:tabLst>
            </a:pPr>
            <a:r>
              <a:rPr dirty="0" sz="1400" spc="-10" b="1">
                <a:solidFill>
                  <a:srgbClr val="182C4A"/>
                </a:solidFill>
                <a:latin typeface="Calibri"/>
                <a:cs typeface="Calibri"/>
              </a:rPr>
              <a:t>Correlation</a:t>
            </a:r>
            <a:r>
              <a:rPr dirty="0" sz="1400" spc="-5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Analysis:</a:t>
            </a:r>
            <a:r>
              <a:rPr dirty="0" sz="1400" spc="-7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Use a</a:t>
            </a:r>
            <a:r>
              <a:rPr dirty="0" sz="1400" spc="-4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heatmap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study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 relationships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among</a:t>
            </a:r>
            <a:r>
              <a:rPr dirty="0" sz="1400" spc="-3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numerical</a:t>
            </a:r>
            <a:r>
              <a:rPr dirty="0" sz="1400" spc="-6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variables</a:t>
            </a:r>
            <a:r>
              <a:rPr dirty="0" sz="1400" spc="-6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such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as runs,</a:t>
            </a:r>
            <a:r>
              <a:rPr dirty="0" sz="1400" spc="-2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wickets</a:t>
            </a:r>
            <a:r>
              <a:rPr dirty="0" sz="1400" spc="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recent form.</a:t>
            </a:r>
            <a:endParaRPr sz="1400">
              <a:latin typeface="Calibri"/>
              <a:cs typeface="Calibri"/>
            </a:endParaRPr>
          </a:p>
          <a:p>
            <a:pPr marL="192405" indent="-179705">
              <a:lnSpc>
                <a:spcPct val="100000"/>
              </a:lnSpc>
              <a:spcBef>
                <a:spcPts val="894"/>
              </a:spcBef>
              <a:buAutoNum type="arabicPeriod"/>
              <a:tabLst>
                <a:tab pos="192405" algn="l"/>
              </a:tabLst>
            </a:pP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Purpose</a:t>
            </a:r>
            <a:r>
              <a:rPr dirty="0" sz="1400" spc="-80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of</a:t>
            </a:r>
            <a:r>
              <a:rPr dirty="0" sz="1400" spc="-5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82C4A"/>
                </a:solidFill>
                <a:latin typeface="Calibri"/>
                <a:cs typeface="Calibri"/>
              </a:rPr>
              <a:t>EDA:</a:t>
            </a:r>
            <a:r>
              <a:rPr dirty="0" sz="1400" spc="-25" b="1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Find</a:t>
            </a:r>
            <a:r>
              <a:rPr dirty="0" sz="1400" spc="-3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patterns,</a:t>
            </a:r>
            <a:r>
              <a:rPr dirty="0" sz="1400" spc="-7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detect</a:t>
            </a:r>
            <a:r>
              <a:rPr dirty="0" sz="1400" spc="-7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data</a:t>
            </a:r>
            <a:r>
              <a:rPr dirty="0" sz="1400" spc="-4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issues</a:t>
            </a:r>
            <a:r>
              <a:rPr dirty="0" sz="1400" spc="-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understand</a:t>
            </a:r>
            <a:r>
              <a:rPr dirty="0" sz="1400" spc="-3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useful</a:t>
            </a:r>
            <a:r>
              <a:rPr dirty="0" sz="1400" spc="-65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features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before</a:t>
            </a:r>
            <a:r>
              <a:rPr dirty="0" sz="1400">
                <a:solidFill>
                  <a:srgbClr val="182C4A"/>
                </a:solidFill>
                <a:latin typeface="Calibri"/>
                <a:cs typeface="Calibri"/>
              </a:rPr>
              <a:t> model </a:t>
            </a:r>
            <a:r>
              <a:rPr dirty="0" sz="1400" spc="-10">
                <a:solidFill>
                  <a:srgbClr val="182C4A"/>
                </a:solidFill>
                <a:latin typeface="Calibri"/>
                <a:cs typeface="Calibri"/>
              </a:rPr>
              <a:t>training.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067300"/>
            <a:ext cx="9144000" cy="76200"/>
            <a:chOff x="0" y="5067300"/>
            <a:chExt cx="9144000" cy="76200"/>
          </a:xfrm>
        </p:grpSpPr>
        <p:sp>
          <p:nvSpPr>
            <p:cNvPr id="5" name="object 5"/>
            <p:cNvSpPr/>
            <p:nvPr/>
          </p:nvSpPr>
          <p:spPr>
            <a:xfrm>
              <a:off x="0" y="5067300"/>
              <a:ext cx="9144000" cy="19050"/>
            </a:xfrm>
            <a:custGeom>
              <a:avLst/>
              <a:gdLst/>
              <a:ahLst/>
              <a:cxnLst/>
              <a:rect l="l" t="t" r="r" b="b"/>
              <a:pathLst>
                <a:path w="9144000" h="19050">
                  <a:moveTo>
                    <a:pt x="0" y="19050"/>
                  </a:moveTo>
                  <a:lnTo>
                    <a:pt x="9144000" y="190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086350"/>
              <a:ext cx="9144000" cy="57150"/>
            </a:xfrm>
            <a:custGeom>
              <a:avLst/>
              <a:gdLst/>
              <a:ahLst/>
              <a:cxnLst/>
              <a:rect l="l" t="t" r="r" b="b"/>
              <a:pathLst>
                <a:path w="9144000" h="57150">
                  <a:moveTo>
                    <a:pt x="91440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9144000" y="571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71499"/>
            <a:ext cx="8001000" cy="457200"/>
          </a:xfrm>
          <a:custGeom>
            <a:avLst/>
            <a:gdLst/>
            <a:ahLst/>
            <a:cxnLst/>
            <a:rect l="l" t="t" r="r" b="b"/>
            <a:pathLst>
              <a:path w="8001000" h="457200">
                <a:moveTo>
                  <a:pt x="8001000" y="0"/>
                </a:moveTo>
                <a:lnTo>
                  <a:pt x="0" y="0"/>
                </a:lnTo>
                <a:lnTo>
                  <a:pt x="0" y="457200"/>
                </a:lnTo>
                <a:lnTo>
                  <a:pt x="8001000" y="457200"/>
                </a:lnTo>
                <a:lnTo>
                  <a:pt x="8001000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dirty="0" spc="-65"/>
              <a:t> </a:t>
            </a:r>
            <a:r>
              <a:rPr dirty="0"/>
              <a:t>vs</a:t>
            </a:r>
            <a:r>
              <a:rPr dirty="0" spc="-25"/>
              <a:t> </a:t>
            </a:r>
            <a:r>
              <a:rPr dirty="0" spc="-10"/>
              <a:t>Recent</a:t>
            </a:r>
            <a:r>
              <a:rPr dirty="0" spc="-60"/>
              <a:t> </a:t>
            </a:r>
            <a:r>
              <a:rPr dirty="0" spc="-20"/>
              <a:t>Form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01159" y="319024"/>
            <a:ext cx="230886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182C4A"/>
                </a:solidFill>
                <a:latin typeface="Cambria"/>
                <a:cs typeface="Cambria"/>
              </a:rPr>
              <a:t>Correlation</a:t>
            </a:r>
            <a:r>
              <a:rPr dirty="0" sz="2000" spc="-10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182C4A"/>
                </a:solidFill>
                <a:latin typeface="Cambria"/>
                <a:cs typeface="Cambria"/>
              </a:rPr>
              <a:t>Heatmap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73415" y="621982"/>
            <a:ext cx="2165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182C4A"/>
                </a:solidFill>
                <a:latin typeface="Cambria"/>
                <a:cs typeface="Cambria"/>
              </a:rPr>
              <a:t>11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1950" y="733425"/>
            <a:ext cx="4114800" cy="1504950"/>
          </a:xfrm>
          <a:custGeom>
            <a:avLst/>
            <a:gdLst/>
            <a:ahLst/>
            <a:cxnLst/>
            <a:rect l="l" t="t" r="r" b="b"/>
            <a:pathLst>
              <a:path w="4114800" h="1504950">
                <a:moveTo>
                  <a:pt x="4060063" y="0"/>
                </a:moveTo>
                <a:lnTo>
                  <a:pt x="54724" y="0"/>
                </a:lnTo>
                <a:lnTo>
                  <a:pt x="33422" y="4302"/>
                </a:lnTo>
                <a:lnTo>
                  <a:pt x="16027" y="16033"/>
                </a:lnTo>
                <a:lnTo>
                  <a:pt x="4300" y="33432"/>
                </a:lnTo>
                <a:lnTo>
                  <a:pt x="0" y="54737"/>
                </a:lnTo>
                <a:lnTo>
                  <a:pt x="0" y="1450213"/>
                </a:lnTo>
                <a:lnTo>
                  <a:pt x="4300" y="1471517"/>
                </a:lnTo>
                <a:lnTo>
                  <a:pt x="16027" y="1488916"/>
                </a:lnTo>
                <a:lnTo>
                  <a:pt x="33422" y="1500647"/>
                </a:lnTo>
                <a:lnTo>
                  <a:pt x="54724" y="1504950"/>
                </a:lnTo>
                <a:lnTo>
                  <a:pt x="4060063" y="1504950"/>
                </a:lnTo>
                <a:lnTo>
                  <a:pt x="4081367" y="1500647"/>
                </a:lnTo>
                <a:lnTo>
                  <a:pt x="4098766" y="1488916"/>
                </a:lnTo>
                <a:lnTo>
                  <a:pt x="4110497" y="1471517"/>
                </a:lnTo>
                <a:lnTo>
                  <a:pt x="4114800" y="1450213"/>
                </a:lnTo>
                <a:lnTo>
                  <a:pt x="4114800" y="54737"/>
                </a:lnTo>
                <a:lnTo>
                  <a:pt x="4110497" y="33432"/>
                </a:lnTo>
                <a:lnTo>
                  <a:pt x="4098766" y="16033"/>
                </a:lnTo>
                <a:lnTo>
                  <a:pt x="4081367" y="4302"/>
                </a:lnTo>
                <a:lnTo>
                  <a:pt x="4060063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0855" y="770699"/>
            <a:ext cx="1759585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9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#</a:t>
            </a:r>
            <a:r>
              <a:rPr dirty="0" sz="950" spc="-1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result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vs</a:t>
            </a:r>
            <a:r>
              <a:rPr dirty="0" sz="950" spc="-1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recent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20">
                <a:solidFill>
                  <a:srgbClr val="182C4A"/>
                </a:solidFill>
                <a:latin typeface="Consolas"/>
                <a:cs typeface="Consolas"/>
              </a:rPr>
              <a:t>form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plt.figure(figsize=(8,</a:t>
            </a:r>
            <a:r>
              <a:rPr dirty="0" sz="950" spc="-9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25">
                <a:solidFill>
                  <a:srgbClr val="182C4A"/>
                </a:solidFill>
                <a:latin typeface="Consolas"/>
                <a:cs typeface="Consolas"/>
              </a:rPr>
              <a:t>5))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855" y="1104582"/>
            <a:ext cx="3559810" cy="702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9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sns.boxplot(data=df,</a:t>
            </a:r>
            <a:r>
              <a:rPr dirty="0" sz="950" spc="-5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x="Match</a:t>
            </a:r>
            <a:r>
              <a:rPr dirty="0" sz="950" spc="-4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Result",</a:t>
            </a:r>
            <a:r>
              <a:rPr dirty="0" sz="950" spc="-4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y="Recent</a:t>
            </a:r>
            <a:r>
              <a:rPr dirty="0" sz="950" spc="-4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20">
                <a:solidFill>
                  <a:srgbClr val="182C4A"/>
                </a:solidFill>
                <a:latin typeface="Consolas"/>
                <a:cs typeface="Consolas"/>
              </a:rPr>
              <a:t>Form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Score")</a:t>
            </a:r>
            <a:endParaRPr sz="950">
              <a:latin typeface="Consolas"/>
              <a:cs typeface="Consolas"/>
            </a:endParaRPr>
          </a:p>
          <a:p>
            <a:pPr marL="12700" marR="1271905">
              <a:lnSpc>
                <a:spcPts val="1350"/>
              </a:lnSpc>
              <a:spcBef>
                <a:spcPts val="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plt.title("Result</a:t>
            </a:r>
            <a:r>
              <a:rPr dirty="0" sz="950" spc="-3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vs</a:t>
            </a:r>
            <a:r>
              <a:rPr dirty="0" sz="950" spc="-3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Recent</a:t>
            </a:r>
            <a:r>
              <a:rPr dirty="0" sz="950" spc="-3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Form") plt.show()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05350" y="733425"/>
            <a:ext cx="4029075" cy="1504950"/>
          </a:xfrm>
          <a:custGeom>
            <a:avLst/>
            <a:gdLst/>
            <a:ahLst/>
            <a:cxnLst/>
            <a:rect l="l" t="t" r="r" b="b"/>
            <a:pathLst>
              <a:path w="4029075" h="1504950">
                <a:moveTo>
                  <a:pt x="3974338" y="0"/>
                </a:moveTo>
                <a:lnTo>
                  <a:pt x="54737" y="0"/>
                </a:lnTo>
                <a:lnTo>
                  <a:pt x="33432" y="4302"/>
                </a:lnTo>
                <a:lnTo>
                  <a:pt x="16033" y="16033"/>
                </a:lnTo>
                <a:lnTo>
                  <a:pt x="4302" y="33432"/>
                </a:lnTo>
                <a:lnTo>
                  <a:pt x="0" y="54737"/>
                </a:lnTo>
                <a:lnTo>
                  <a:pt x="0" y="1450213"/>
                </a:lnTo>
                <a:lnTo>
                  <a:pt x="4302" y="1471517"/>
                </a:lnTo>
                <a:lnTo>
                  <a:pt x="16033" y="1488916"/>
                </a:lnTo>
                <a:lnTo>
                  <a:pt x="33432" y="1500647"/>
                </a:lnTo>
                <a:lnTo>
                  <a:pt x="54737" y="1504950"/>
                </a:lnTo>
                <a:lnTo>
                  <a:pt x="3974338" y="1504950"/>
                </a:lnTo>
                <a:lnTo>
                  <a:pt x="3995642" y="1500647"/>
                </a:lnTo>
                <a:lnTo>
                  <a:pt x="4013041" y="1488916"/>
                </a:lnTo>
                <a:lnTo>
                  <a:pt x="4024772" y="1471517"/>
                </a:lnTo>
                <a:lnTo>
                  <a:pt x="4029075" y="1450213"/>
                </a:lnTo>
                <a:lnTo>
                  <a:pt x="4029075" y="54737"/>
                </a:lnTo>
                <a:lnTo>
                  <a:pt x="4024772" y="33432"/>
                </a:lnTo>
                <a:lnTo>
                  <a:pt x="4013041" y="16033"/>
                </a:lnTo>
                <a:lnTo>
                  <a:pt x="3995642" y="4302"/>
                </a:lnTo>
                <a:lnTo>
                  <a:pt x="3974338" y="0"/>
                </a:lnTo>
                <a:close/>
              </a:path>
            </a:pathLst>
          </a:custGeom>
          <a:solidFill>
            <a:srgbClr val="DBEA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38700" y="770699"/>
            <a:ext cx="2893060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95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numeric_cols</a:t>
            </a:r>
            <a:r>
              <a:rPr dirty="0" sz="950" spc="-50">
                <a:solidFill>
                  <a:srgbClr val="182C4A"/>
                </a:solidFill>
                <a:latin typeface="Consolas"/>
                <a:cs typeface="Consolas"/>
              </a:rPr>
              <a:t> =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df.select_dtypes(include=np.number).columns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8700" y="1104582"/>
            <a:ext cx="3559810" cy="5314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30"/>
              </a:spcBef>
            </a:pP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correlation</a:t>
            </a:r>
            <a:r>
              <a:rPr dirty="0" sz="950" spc="-2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=</a:t>
            </a:r>
            <a:r>
              <a:rPr dirty="0" sz="950" spc="-20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df[numeric_cols].corr()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sns.heatmap(correlation,</a:t>
            </a:r>
            <a:r>
              <a:rPr dirty="0" sz="950" spc="-7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>
                <a:solidFill>
                  <a:srgbClr val="182C4A"/>
                </a:solidFill>
                <a:latin typeface="Consolas"/>
                <a:cs typeface="Consolas"/>
              </a:rPr>
              <a:t>annot=True,</a:t>
            </a:r>
            <a:r>
              <a:rPr dirty="0" sz="950" spc="-75">
                <a:solidFill>
                  <a:srgbClr val="182C4A"/>
                </a:solidFill>
                <a:latin typeface="Consolas"/>
                <a:cs typeface="Consolas"/>
              </a:rPr>
              <a:t> </a:t>
            </a:r>
            <a:r>
              <a:rPr dirty="0" sz="950" spc="-10">
                <a:solidFill>
                  <a:srgbClr val="182C4A"/>
                </a:solidFill>
                <a:latin typeface="Consolas"/>
                <a:cs typeface="Consolas"/>
              </a:rPr>
              <a:t>cmap="coolwarm") plt.show()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377" y="2439606"/>
            <a:ext cx="32746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>
                <a:solidFill>
                  <a:srgbClr val="182C4A"/>
                </a:solidFill>
                <a:latin typeface="Cambria"/>
                <a:cs typeface="Cambria"/>
              </a:rPr>
              <a:t>We</a:t>
            </a:r>
            <a:r>
              <a:rPr dirty="0" sz="135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compare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 recent-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form</a:t>
            </a:r>
            <a:r>
              <a:rPr dirty="0" sz="1350" spc="-1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distribution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of: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294" y="2615120"/>
            <a:ext cx="1428750" cy="63690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0"/>
              </a:spcBef>
              <a:buChar char="•"/>
              <a:tabLst>
                <a:tab pos="355600" algn="l"/>
              </a:tabLst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Winning</a:t>
            </a:r>
            <a:r>
              <a:rPr dirty="0" sz="1250" spc="1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teams</a:t>
            </a:r>
            <a:endParaRPr sz="125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dirty="0" sz="1250">
                <a:solidFill>
                  <a:srgbClr val="182C4A"/>
                </a:solidFill>
                <a:latin typeface="Cambria"/>
                <a:cs typeface="Cambria"/>
              </a:rPr>
              <a:t>Losing</a:t>
            </a:r>
            <a:r>
              <a:rPr dirty="0" sz="1250" spc="1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solidFill>
                  <a:srgbClr val="182C4A"/>
                </a:solidFill>
                <a:latin typeface="Cambria"/>
                <a:cs typeface="Cambria"/>
              </a:rPr>
              <a:t>teams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1159" y="2620962"/>
            <a:ext cx="3825240" cy="43243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To</a:t>
            </a:r>
            <a:r>
              <a:rPr dirty="0" sz="1350" spc="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understand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the</a:t>
            </a:r>
            <a:r>
              <a:rPr dirty="0" sz="1350" spc="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relationships</a:t>
            </a:r>
            <a:r>
              <a:rPr dirty="0" sz="1350" spc="-6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between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 numerical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variables</a:t>
            </a:r>
            <a:r>
              <a:rPr dirty="0" sz="1350" spc="-2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such</a:t>
            </a:r>
            <a:r>
              <a:rPr dirty="0" sz="135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as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runs,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wickets</a:t>
            </a:r>
            <a:r>
              <a:rPr dirty="0" sz="1350" spc="-20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and</a:t>
            </a:r>
            <a:r>
              <a:rPr dirty="0" sz="1350" spc="-3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>
                <a:solidFill>
                  <a:srgbClr val="182C4A"/>
                </a:solidFill>
                <a:latin typeface="Cambria"/>
                <a:cs typeface="Cambria"/>
              </a:rPr>
              <a:t>recent</a:t>
            </a:r>
            <a:r>
              <a:rPr dirty="0" sz="1350" spc="-45">
                <a:solidFill>
                  <a:srgbClr val="182C4A"/>
                </a:solidFill>
                <a:latin typeface="Cambria"/>
                <a:cs typeface="Cambria"/>
              </a:rPr>
              <a:t> </a:t>
            </a:r>
            <a:r>
              <a:rPr dirty="0" sz="1350" spc="-10">
                <a:solidFill>
                  <a:srgbClr val="182C4A"/>
                </a:solidFill>
                <a:latin typeface="Cambria"/>
                <a:cs typeface="Cambria"/>
              </a:rPr>
              <a:t>form.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7990" y="4258627"/>
            <a:ext cx="158242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b="1">
                <a:solidFill>
                  <a:srgbClr val="182C4A"/>
                </a:solidFill>
                <a:latin typeface="Times New Roman"/>
                <a:cs typeface="Times New Roman"/>
              </a:rPr>
              <a:t>Thank</a:t>
            </a:r>
            <a:r>
              <a:rPr dirty="0" sz="2600" spc="-165" b="1">
                <a:solidFill>
                  <a:srgbClr val="182C4A"/>
                </a:solidFill>
                <a:latin typeface="Times New Roman"/>
                <a:cs typeface="Times New Roman"/>
              </a:rPr>
              <a:t> </a:t>
            </a:r>
            <a:r>
              <a:rPr dirty="0" sz="2600" spc="-70" b="1">
                <a:solidFill>
                  <a:srgbClr val="182C4A"/>
                </a:solidFill>
                <a:latin typeface="Times New Roman"/>
                <a:cs typeface="Times New Roman"/>
              </a:rPr>
              <a:t>You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" name="object 17"/>
            <p:cNvSpPr/>
            <p:nvPr/>
          </p:nvSpPr>
          <p:spPr>
            <a:xfrm>
              <a:off x="0" y="76199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4991100"/>
                  </a:moveTo>
                  <a:lnTo>
                    <a:pt x="0" y="4991100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4991100"/>
                  </a:lnTo>
                  <a:close/>
                </a:path>
                <a:path w="9144000" h="5010150">
                  <a:moveTo>
                    <a:pt x="9144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000" y="381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5086350"/>
                  </a:moveTo>
                  <a:lnTo>
                    <a:pt x="0" y="50863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5086350"/>
                  </a:lnTo>
                  <a:close/>
                </a:path>
                <a:path w="9144000" h="5143500">
                  <a:moveTo>
                    <a:pt x="9144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44000" y="76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2026-09-24T05:17:00Z</dcterms:created>
  <dcterms:modified xsi:type="dcterms:W3CDTF">2026-09-24T05:17:00Z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2026-09-22T00:00:00Z</vt:filetime>
  </property>
  <property fmtid="{D5CDD505-2E9C-101B-9397-08002B2CF9AE}" pid="4" name="LastSaved">
    <vt:filetime>2026-09-24T00:00:00Z</vt:filetime>
  </property>
</Properties>
</file>